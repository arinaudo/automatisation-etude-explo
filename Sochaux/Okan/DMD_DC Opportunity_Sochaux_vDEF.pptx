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362" r:id="rId5"/>
    <p:sldId id="368" r:id="rId6"/>
    <p:sldId id="371" r:id="rId7"/>
    <p:sldId id="320" r:id="rId8"/>
    <p:sldId id="321" r:id="rId9"/>
    <p:sldId id="370" r:id="rId10"/>
    <p:sldId id="319" r:id="rId11"/>
    <p:sldId id="381" r:id="rId12"/>
    <p:sldId id="356" r:id="rId13"/>
    <p:sldId id="350" r:id="rId14"/>
    <p:sldId id="330" r:id="rId15"/>
    <p:sldId id="363" r:id="rId16"/>
    <p:sldId id="364" r:id="rId17"/>
    <p:sldId id="386" r:id="rId18"/>
    <p:sldId id="374" r:id="rId19"/>
    <p:sldId id="367" r:id="rId20"/>
    <p:sldId id="385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777" userDrawn="1">
          <p15:clr>
            <a:srgbClr val="A4A3A4"/>
          </p15:clr>
        </p15:guide>
        <p15:guide id="4" pos="7378" userDrawn="1">
          <p15:clr>
            <a:srgbClr val="A4A3A4"/>
          </p15:clr>
        </p15:guide>
        <p15:guide id="5" pos="461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3AD36"/>
    <a:srgbClr val="3842CA"/>
    <a:srgbClr val="5FE4C5"/>
    <a:srgbClr val="156082"/>
    <a:srgbClr val="175D51"/>
    <a:srgbClr val="982CFA"/>
    <a:srgbClr val="D21A2F"/>
    <a:srgbClr val="97C6F0"/>
    <a:srgbClr val="CCD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5EEAE0-8802-494B-A26C-4672C1B01735}" v="3" dt="2026-05-29T22:04:10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450" y="36"/>
      </p:cViewPr>
      <p:guideLst>
        <p:guide orient="horz" pos="2160"/>
        <p:guide pos="3840"/>
        <p:guide orient="horz" pos="777"/>
        <p:guide pos="7378"/>
        <p:guide pos="461"/>
        <p:guide orient="horz" pos="39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kan Turedi" userId="ab13ef1a-ccfa-4b9b-9100-9f299a6fe2ec" providerId="ADAL" clId="{76AF0B5D-BE69-4E3F-BD4E-6A8D09FA4924}"/>
    <pc:docChg chg="undo custSel delSld modSld">
      <pc:chgData name="Okan Turedi" userId="ab13ef1a-ccfa-4b9b-9100-9f299a6fe2ec" providerId="ADAL" clId="{76AF0B5D-BE69-4E3F-BD4E-6A8D09FA4924}" dt="2026-05-29T22:04:50.025" v="356" actId="20577"/>
      <pc:docMkLst>
        <pc:docMk/>
      </pc:docMkLst>
      <pc:sldChg chg="modSp mod">
        <pc:chgData name="Okan Turedi" userId="ab13ef1a-ccfa-4b9b-9100-9f299a6fe2ec" providerId="ADAL" clId="{76AF0B5D-BE69-4E3F-BD4E-6A8D09FA4924}" dt="2026-05-29T21:59:17.272" v="139" actId="20577"/>
        <pc:sldMkLst>
          <pc:docMk/>
          <pc:sldMk cId="3406180542" sldId="350"/>
        </pc:sldMkLst>
        <pc:graphicFrameChg chg="modGraphic">
          <ac:chgData name="Okan Turedi" userId="ab13ef1a-ccfa-4b9b-9100-9f299a6fe2ec" providerId="ADAL" clId="{76AF0B5D-BE69-4E3F-BD4E-6A8D09FA4924}" dt="2026-05-29T21:59:17.272" v="139" actId="20577"/>
          <ac:graphicFrameMkLst>
            <pc:docMk/>
            <pc:sldMk cId="3406180542" sldId="350"/>
            <ac:graphicFrameMk id="8" creationId="{EFB50A75-40C7-E58D-3E8E-6CDA82BCDF1E}"/>
          </ac:graphicFrameMkLst>
        </pc:graphicFrameChg>
      </pc:sldChg>
      <pc:sldChg chg="addSp delSp modSp mod">
        <pc:chgData name="Okan Turedi" userId="ab13ef1a-ccfa-4b9b-9100-9f299a6fe2ec" providerId="ADAL" clId="{76AF0B5D-BE69-4E3F-BD4E-6A8D09FA4924}" dt="2026-05-29T21:53:06.319" v="61" actId="20577"/>
        <pc:sldMkLst>
          <pc:docMk/>
          <pc:sldMk cId="1543619383" sldId="370"/>
        </pc:sldMkLst>
        <pc:spChg chg="add mod">
          <ac:chgData name="Okan Turedi" userId="ab13ef1a-ccfa-4b9b-9100-9f299a6fe2ec" providerId="ADAL" clId="{76AF0B5D-BE69-4E3F-BD4E-6A8D09FA4924}" dt="2026-05-29T21:49:44.022" v="58" actId="1035"/>
          <ac:spMkLst>
            <pc:docMk/>
            <pc:sldMk cId="1543619383" sldId="370"/>
            <ac:spMk id="6" creationId="{8F32EDDC-ED34-C411-24A6-2D2AA275EC23}"/>
          </ac:spMkLst>
        </pc:spChg>
        <pc:spChg chg="mod">
          <ac:chgData name="Okan Turedi" userId="ab13ef1a-ccfa-4b9b-9100-9f299a6fe2ec" providerId="ADAL" clId="{76AF0B5D-BE69-4E3F-BD4E-6A8D09FA4924}" dt="2026-05-29T21:50:04.611" v="59" actId="1076"/>
          <ac:spMkLst>
            <pc:docMk/>
            <pc:sldMk cId="1543619383" sldId="370"/>
            <ac:spMk id="9" creationId="{112CD362-2257-8647-1054-1DAC7EE3C1FF}"/>
          </ac:spMkLst>
        </pc:spChg>
        <pc:spChg chg="mod">
          <ac:chgData name="Okan Turedi" userId="ab13ef1a-ccfa-4b9b-9100-9f299a6fe2ec" providerId="ADAL" clId="{76AF0B5D-BE69-4E3F-BD4E-6A8D09FA4924}" dt="2026-05-29T21:50:08.788" v="60" actId="1076"/>
          <ac:spMkLst>
            <pc:docMk/>
            <pc:sldMk cId="1543619383" sldId="370"/>
            <ac:spMk id="10" creationId="{EBFD7E9A-B12A-7044-716A-B8A80D1D7C6A}"/>
          </ac:spMkLst>
        </pc:spChg>
        <pc:spChg chg="del">
          <ac:chgData name="Okan Turedi" userId="ab13ef1a-ccfa-4b9b-9100-9f299a6fe2ec" providerId="ADAL" clId="{76AF0B5D-BE69-4E3F-BD4E-6A8D09FA4924}" dt="2026-05-29T21:49:31.158" v="23" actId="478"/>
          <ac:spMkLst>
            <pc:docMk/>
            <pc:sldMk cId="1543619383" sldId="370"/>
            <ac:spMk id="12" creationId="{B11E5D37-0AC9-3A7A-4E7E-FAE4637A280B}"/>
          </ac:spMkLst>
        </pc:spChg>
        <pc:graphicFrameChg chg="modGraphic">
          <ac:chgData name="Okan Turedi" userId="ab13ef1a-ccfa-4b9b-9100-9f299a6fe2ec" providerId="ADAL" clId="{76AF0B5D-BE69-4E3F-BD4E-6A8D09FA4924}" dt="2026-05-29T21:53:06.319" v="61" actId="20577"/>
          <ac:graphicFrameMkLst>
            <pc:docMk/>
            <pc:sldMk cId="1543619383" sldId="370"/>
            <ac:graphicFrameMk id="29" creationId="{52282F46-3F8C-7EC5-FE21-72BA8A47EB78}"/>
          </ac:graphicFrameMkLst>
        </pc:graphicFrameChg>
        <pc:picChg chg="add mod ord">
          <ac:chgData name="Okan Turedi" userId="ab13ef1a-ccfa-4b9b-9100-9f299a6fe2ec" providerId="ADAL" clId="{76AF0B5D-BE69-4E3F-BD4E-6A8D09FA4924}" dt="2026-05-29T21:49:28.637" v="22" actId="1076"/>
          <ac:picMkLst>
            <pc:docMk/>
            <pc:sldMk cId="1543619383" sldId="370"/>
            <ac:picMk id="3" creationId="{A321608F-F875-AA0C-9115-9777DA778128}"/>
          </ac:picMkLst>
        </pc:picChg>
        <pc:picChg chg="del">
          <ac:chgData name="Okan Turedi" userId="ab13ef1a-ccfa-4b9b-9100-9f299a6fe2ec" providerId="ADAL" clId="{76AF0B5D-BE69-4E3F-BD4E-6A8D09FA4924}" dt="2026-05-29T21:48:27.247" v="4" actId="478"/>
          <ac:picMkLst>
            <pc:docMk/>
            <pc:sldMk cId="1543619383" sldId="370"/>
            <ac:picMk id="8" creationId="{63B9829E-7ECA-41CA-5647-D9AB86290AAF}"/>
          </ac:picMkLst>
        </pc:picChg>
        <pc:picChg chg="mod">
          <ac:chgData name="Okan Turedi" userId="ab13ef1a-ccfa-4b9b-9100-9f299a6fe2ec" providerId="ADAL" clId="{76AF0B5D-BE69-4E3F-BD4E-6A8D09FA4924}" dt="2026-05-29T21:49:25.744" v="20" actId="1076"/>
          <ac:picMkLst>
            <pc:docMk/>
            <pc:sldMk cId="1543619383" sldId="370"/>
            <ac:picMk id="13" creationId="{E30A13E3-7BF9-011A-3093-22FF9AD01F68}"/>
          </ac:picMkLst>
        </pc:picChg>
      </pc:sldChg>
      <pc:sldChg chg="modSp mod">
        <pc:chgData name="Okan Turedi" userId="ab13ef1a-ccfa-4b9b-9100-9f299a6fe2ec" providerId="ADAL" clId="{76AF0B5D-BE69-4E3F-BD4E-6A8D09FA4924}" dt="2026-05-29T21:53:28.508" v="104" actId="20577"/>
        <pc:sldMkLst>
          <pc:docMk/>
          <pc:sldMk cId="3076257953" sldId="381"/>
        </pc:sldMkLst>
        <pc:graphicFrameChg chg="modGraphic">
          <ac:chgData name="Okan Turedi" userId="ab13ef1a-ccfa-4b9b-9100-9f299a6fe2ec" providerId="ADAL" clId="{76AF0B5D-BE69-4E3F-BD4E-6A8D09FA4924}" dt="2026-05-29T21:53:28.508" v="104" actId="20577"/>
          <ac:graphicFrameMkLst>
            <pc:docMk/>
            <pc:sldMk cId="3076257953" sldId="381"/>
            <ac:graphicFrameMk id="9" creationId="{8BBDBB26-2926-F40F-EA56-FF07F4799570}"/>
          </ac:graphicFrameMkLst>
        </pc:graphicFrameChg>
      </pc:sldChg>
      <pc:sldChg chg="addSp delSp modSp mod">
        <pc:chgData name="Okan Turedi" userId="ab13ef1a-ccfa-4b9b-9100-9f299a6fe2ec" providerId="ADAL" clId="{76AF0B5D-BE69-4E3F-BD4E-6A8D09FA4924}" dt="2026-05-29T22:04:50.025" v="356" actId="20577"/>
        <pc:sldMkLst>
          <pc:docMk/>
          <pc:sldMk cId="1504882027" sldId="385"/>
        </pc:sldMkLst>
        <pc:spChg chg="add mod">
          <ac:chgData name="Okan Turedi" userId="ab13ef1a-ccfa-4b9b-9100-9f299a6fe2ec" providerId="ADAL" clId="{76AF0B5D-BE69-4E3F-BD4E-6A8D09FA4924}" dt="2026-05-29T22:04:35.746" v="354" actId="1076"/>
          <ac:spMkLst>
            <pc:docMk/>
            <pc:sldMk cId="1504882027" sldId="385"/>
            <ac:spMk id="7" creationId="{71368853-8634-F701-1A18-FDBF5A6FA067}"/>
          </ac:spMkLst>
        </pc:spChg>
        <pc:spChg chg="del">
          <ac:chgData name="Okan Turedi" userId="ab13ef1a-ccfa-4b9b-9100-9f299a6fe2ec" providerId="ADAL" clId="{76AF0B5D-BE69-4E3F-BD4E-6A8D09FA4924}" dt="2026-05-29T22:03:59.001" v="342" actId="478"/>
          <ac:spMkLst>
            <pc:docMk/>
            <pc:sldMk cId="1504882027" sldId="385"/>
            <ac:spMk id="10" creationId="{9532EDA1-BCAE-F209-FBF2-369424C0480F}"/>
          </ac:spMkLst>
        </pc:spChg>
        <pc:spChg chg="mod">
          <ac:chgData name="Okan Turedi" userId="ab13ef1a-ccfa-4b9b-9100-9f299a6fe2ec" providerId="ADAL" clId="{76AF0B5D-BE69-4E3F-BD4E-6A8D09FA4924}" dt="2026-05-29T22:04:30.809" v="352" actId="1076"/>
          <ac:spMkLst>
            <pc:docMk/>
            <pc:sldMk cId="1504882027" sldId="385"/>
            <ac:spMk id="11" creationId="{BBFED8EB-D26B-606B-7220-5E24E9E8D6A1}"/>
          </ac:spMkLst>
        </pc:spChg>
        <pc:spChg chg="add mod">
          <ac:chgData name="Okan Turedi" userId="ab13ef1a-ccfa-4b9b-9100-9f299a6fe2ec" providerId="ADAL" clId="{76AF0B5D-BE69-4E3F-BD4E-6A8D09FA4924}" dt="2026-05-29T22:04:33.347" v="353" actId="1076"/>
          <ac:spMkLst>
            <pc:docMk/>
            <pc:sldMk cId="1504882027" sldId="385"/>
            <ac:spMk id="16" creationId="{A7B0B647-8E88-85E1-44D2-7ECA465970A3}"/>
          </ac:spMkLst>
        </pc:spChg>
        <pc:graphicFrameChg chg="modGraphic">
          <ac:chgData name="Okan Turedi" userId="ab13ef1a-ccfa-4b9b-9100-9f299a6fe2ec" providerId="ADAL" clId="{76AF0B5D-BE69-4E3F-BD4E-6A8D09FA4924}" dt="2026-05-29T22:04:50.025" v="356" actId="20577"/>
          <ac:graphicFrameMkLst>
            <pc:docMk/>
            <pc:sldMk cId="1504882027" sldId="385"/>
            <ac:graphicFrameMk id="2" creationId="{D4BA5445-E42D-5485-0486-170ECBF44B88}"/>
          </ac:graphicFrameMkLst>
        </pc:graphicFrameChg>
      </pc:sldChg>
      <pc:sldChg chg="del">
        <pc:chgData name="Okan Turedi" userId="ab13ef1a-ccfa-4b9b-9100-9f299a6fe2ec" providerId="ADAL" clId="{76AF0B5D-BE69-4E3F-BD4E-6A8D09FA4924}" dt="2026-05-29T22:03:54.726" v="341" actId="47"/>
        <pc:sldMkLst>
          <pc:docMk/>
          <pc:sldMk cId="3040486850" sldId="3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5A259-EC86-430B-BA32-367610B9C970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202D6-53DA-462B-B520-B0ECEFAF0A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1118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202D6-53DA-462B-B520-B0ECEFAF0AD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7443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8EF946-B2B9-8DFA-472A-01350D7FE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00A668-5F54-AC9A-1DA4-C1E44CFF7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819EAD-F686-FB03-D454-79D74B42D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B6120-EA73-48FD-A896-7E480FD9CF12}" type="datetime1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45080F-026B-3DCF-A914-A25DC919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E9A946-224B-415F-1641-09D1948F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397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B80C3C-431D-5F12-BCD8-DE65BCA3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41D7A1-02B3-9185-6874-9C7D9F86B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F9C905-33D5-5FE5-1E08-A6F6E15D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8198-ED0F-40DF-AD63-86D132CE048D}" type="datetime1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D180ED-034B-5530-9E43-A916DE9C2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32235C-2847-362A-81B3-1DFA862E4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114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28A730-78E2-8D4D-14BD-F27ECA97C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0C839B-FC86-E740-A068-7E9787E96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13E523-3A25-359F-BE44-0E1BC97BF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EFDDD-11FC-442D-8BE1-602001D49F9D}" type="datetime1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266B1C-FD46-F4CF-6A90-903EAF8C8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D3C3C8-3EA3-2A58-F993-29DD5E74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236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0EDCBA-CFB7-1503-8D2E-E2B89964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13EC09-0A82-EC7C-6145-D79DA8BC0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8D1745-6705-CCCD-BD35-B6F503F5C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77DA280-EAC3-91D8-31B4-F1D4FB96F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CE92-6FC0-4E2D-AD28-B2DD832D2829}" type="datetime1">
              <a:rPr lang="fr-FR" smtClean="0"/>
              <a:t>29/05/2026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F00AF0-E60E-CF36-3C87-33B5495B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FA37D8-A653-7015-574B-B72B56E5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8178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DF819D-D1F5-2DBF-98F8-BC38D37C3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AD72B8-3DBF-BB04-8E3F-6CCCAD08D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6669B-4FBB-772D-1D52-2492DE6C8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ED0952-FF5C-221B-8EB1-0E9226EBD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5B7BED1-CB3F-EFE5-B791-81AEF8EC4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AD692E-5FD1-CBAA-3A71-EE1343006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67E7-D5FA-41C6-BE96-980430C1AEAE}" type="datetime1">
              <a:rPr lang="fr-FR" smtClean="0"/>
              <a:t>29/05/2026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48F447D-24F9-C740-AA17-BF6265B37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4F96A6-0DAF-FDAB-34C4-41973FE4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463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ADEE30-5F4F-7528-C975-81CD7A067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0A9FBBF-5B3B-5F8B-68AF-CB59530F0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7D16F-8E3A-4D84-87B7-CE906435F91B}" type="datetime1">
              <a:rPr lang="fr-FR" smtClean="0"/>
              <a:t>29/05/2026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BD4EE4-6C67-9AF6-B390-8605169FC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EC94A4-53DF-E6DB-5E74-7685B226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769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3DF2441-4B22-2328-DB4B-3C2CA1E76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C3F6C-4EE1-405F-8D96-167C519F5B62}" type="datetime1">
              <a:rPr lang="fr-FR" smtClean="0"/>
              <a:t>29/05/2026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B25E1F0-4703-14F0-5CD9-2FC8483EA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E21C70-6591-BF57-4865-881FAB21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441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B2D1A8-AED2-CEEE-173D-9636E313B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F1B1C2-98B0-13BF-1180-9F5C8AAC7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399C9B-E291-31C3-EA25-C1EBD8170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E0667B-29F7-D46A-F3DA-6CDB48E5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C55EA-8638-43A2-B3D8-850366589927}" type="datetime1">
              <a:rPr lang="fr-FR" smtClean="0"/>
              <a:t>29/05/2026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0E84A3-CD2B-695E-F5AD-87FA11D75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B773EF-8AB2-AA09-C680-E84C79F2D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3033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837216-C6C4-E308-399F-ED2DEED1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868FF94-09EA-EE4D-DD75-48B43A38C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ABB05-BEAC-5D48-C5E1-C1E88B15A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2D081F-0454-41B0-B3A9-69F05ACE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8D01-4FCB-42E8-8E0A-5B71722EC023}" type="datetime1">
              <a:rPr lang="fr-FR" smtClean="0"/>
              <a:t>29/05/2026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783AF2-7F29-62E1-8ED9-4DE7318C7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361A12-D4E3-4078-941A-3D22BC0E9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0018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80FCDC-495E-5004-5C21-09A7B4CA3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3D82242-0842-A5C2-C55C-01FF2BDB5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D387E9-55E5-FDE3-34CD-04D28D552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21F5-D216-4408-8124-C59882B22EA4}" type="datetime1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0A9976-4A29-1328-AE3E-41F7E704C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253A1D-6BA9-86BA-3F38-5BAF795FC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95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98F5A2C-BB53-D8A9-1342-D2FB640282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827F696-0FB0-C0E3-79AB-97B1FE8EB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AA24B4-442D-0225-71CC-A80727AFE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74A6A-9A5B-400A-A4A3-D931161741AF}" type="datetime1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4A73D-5BBE-DFE6-AF6F-976372E1C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1978A3-F736-A494-9AB4-2E3BB5B77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652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9B46FDF-2404-7CA0-7442-FEB23CF40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198825-8DB7-742C-68DB-9E319C60F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FFE3BB-D0CD-DF87-8707-64823BA34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C83F4-2B3F-4901-971A-8BC06D3FF64B}" type="datetime1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9A9540-61F3-3C79-D575-FD497D345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B63106-350C-68DF-4DF7-BC4524F97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34BB2-72C3-4759-86DE-04F3A3D90A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45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C6FEF3-2B4E-2A48-6887-5D2368AA36DF}"/>
              </a:ext>
            </a:extLst>
          </p:cNvPr>
          <p:cNvSpPr/>
          <p:nvPr/>
        </p:nvSpPr>
        <p:spPr>
          <a:xfrm>
            <a:off x="0" y="4006850"/>
            <a:ext cx="12192000" cy="2895600"/>
          </a:xfrm>
          <a:prstGeom prst="rect">
            <a:avLst/>
          </a:prstGeom>
          <a:solidFill>
            <a:srgbClr val="97C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2423284-CBF4-7BF1-55B6-84D8C43E3501}"/>
              </a:ext>
            </a:extLst>
          </p:cNvPr>
          <p:cNvSpPr txBox="1"/>
          <p:nvPr/>
        </p:nvSpPr>
        <p:spPr>
          <a:xfrm>
            <a:off x="220211" y="4161988"/>
            <a:ext cx="69227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Plus Jakarta Sans" pitchFamily="2" charset="0"/>
                <a:cs typeface="Plus Jakarta Sans" pitchFamily="2" charset="0"/>
              </a:rPr>
              <a:t>DC Opportunity </a:t>
            </a:r>
          </a:p>
          <a:p>
            <a:endParaRPr lang="fr-FR" b="1" dirty="0">
              <a:solidFill>
                <a:schemeClr val="bg1"/>
              </a:solidFill>
              <a:latin typeface="Plus Jakarta Sans" pitchFamily="2" charset="0"/>
              <a:cs typeface="Plus Jakarta Sans" pitchFamily="2" charset="0"/>
            </a:endParaRPr>
          </a:p>
          <a:p>
            <a:r>
              <a:rPr lang="fr-FR" b="1" dirty="0">
                <a:solidFill>
                  <a:schemeClr val="bg1"/>
                </a:solidFill>
                <a:latin typeface="Plus Jakarta Sans" pitchFamily="2" charset="0"/>
                <a:cs typeface="Plus Jakarta Sans" pitchFamily="2" charset="0"/>
              </a:rPr>
              <a:t>Sochaux</a:t>
            </a:r>
          </a:p>
          <a:p>
            <a:endParaRPr lang="fr-FR" b="1" dirty="0">
              <a:solidFill>
                <a:schemeClr val="bg1"/>
              </a:solidFill>
              <a:latin typeface="Plus Jakarta Sans" pitchFamily="2" charset="0"/>
              <a:cs typeface="Plus Jakarta Sans" pitchFamily="2" charset="0"/>
            </a:endParaRPr>
          </a:p>
          <a:p>
            <a:r>
              <a:rPr lang="fr-FR" b="1" dirty="0" err="1">
                <a:solidFill>
                  <a:schemeClr val="bg1"/>
                </a:solidFill>
                <a:latin typeface="Plus Jakarta Sans" pitchFamily="2" charset="0"/>
                <a:cs typeface="Plus Jakarta Sans" pitchFamily="2" charset="0"/>
              </a:rPr>
              <a:t>Confidential</a:t>
            </a:r>
            <a:endParaRPr lang="fr-FR" b="1" dirty="0">
              <a:solidFill>
                <a:schemeClr val="bg1"/>
              </a:solidFill>
              <a:latin typeface="Plus Jakarta Sans" pitchFamily="2" charset="0"/>
              <a:cs typeface="Plus Jakarta Sans" pitchFamily="2" charset="0"/>
            </a:endParaRPr>
          </a:p>
          <a:p>
            <a:endParaRPr lang="fr-FR" dirty="0">
              <a:solidFill>
                <a:schemeClr val="bg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pic>
        <p:nvPicPr>
          <p:cNvPr id="1026" name="Picture 2" descr="BT Immo Group | Asset Management">
            <a:extLst>
              <a:ext uri="{FF2B5EF4-FFF2-40B4-BE49-F238E27FC236}">
                <a16:creationId xmlns:a16="http://schemas.microsoft.com/office/drawing/2014/main" id="{3F3780B1-8D8A-8E30-03A9-8633AF921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6797" y="892953"/>
            <a:ext cx="2819847" cy="152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 descr="Une image contenant plein air, ciel, nuage, herbe&#10;&#10;Le contenu généré par l’IA peut être incorrect.">
            <a:extLst>
              <a:ext uri="{FF2B5EF4-FFF2-40B4-BE49-F238E27FC236}">
                <a16:creationId xmlns:a16="http://schemas.microsoft.com/office/drawing/2014/main" id="{F7CC5C7E-D274-804A-1A5A-B9897841F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350" y="106093"/>
            <a:ext cx="3413562" cy="341356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E713824-0B2E-8DD9-B666-1A02745C6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180" y="106093"/>
            <a:ext cx="3357434" cy="341356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03F1616-A42B-484E-0A86-D2AB94E92F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1214" y="106093"/>
            <a:ext cx="3360229" cy="34045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5EB9C22-E3B0-2B4B-351C-CE48A413355F}"/>
              </a:ext>
            </a:extLst>
          </p:cNvPr>
          <p:cNvSpPr/>
          <p:nvPr/>
        </p:nvSpPr>
        <p:spPr>
          <a:xfrm flipV="1">
            <a:off x="0" y="3800457"/>
            <a:ext cx="12192000" cy="143345"/>
          </a:xfrm>
          <a:prstGeom prst="rect">
            <a:avLst/>
          </a:prstGeom>
          <a:solidFill>
            <a:srgbClr val="97C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F7357CC-B7D2-C6DC-BE5A-46F3AA5B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6663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148BA-5B4A-7592-DD93-93114A104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29BE5E-865B-3A0D-E663-DCCE705F9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2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B789D08-CDED-4329-2677-09F64B101A8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Location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A5286DC-6768-E6D5-7AB8-7D1DEA59A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385358"/>
              </p:ext>
            </p:extLst>
          </p:nvPr>
        </p:nvGraphicFramePr>
        <p:xfrm>
          <a:off x="6829386" y="1233488"/>
          <a:ext cx="4883189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189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Distance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from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Strasbourg: 120km</a:t>
                      </a:r>
                    </a:p>
                    <a:p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Distance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from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Franfurt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am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Main: 320km</a:t>
                      </a:r>
                    </a:p>
                    <a:p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Distance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from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Paris: 360km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1115AC5-BFDE-936B-E5B2-3248800D5C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8"/>
          <a:stretch>
            <a:fillRect/>
          </a:stretch>
        </p:blipFill>
        <p:spPr>
          <a:xfrm>
            <a:off x="731838" y="1233488"/>
            <a:ext cx="5364162" cy="5075237"/>
          </a:xfrm>
          <a:prstGeom prst="rect">
            <a:avLst/>
          </a:prstGeom>
        </p:spPr>
      </p:pic>
      <p:pic>
        <p:nvPicPr>
          <p:cNvPr id="2" name="Image 10" descr="The image shows a red, circular, pinpoint symbol typically used to represent a location or point on a map.&#10;&#10;Le contenu généré par l’IA peut être incorrect.">
            <a:extLst>
              <a:ext uri="{FF2B5EF4-FFF2-40B4-BE49-F238E27FC236}">
                <a16:creationId xmlns:a16="http://schemas.microsoft.com/office/drawing/2014/main" id="{70556E16-F0D5-E4AC-7B23-D7374EED0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803" y="4615422"/>
            <a:ext cx="602673" cy="60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96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B280B-B3C8-F615-E6D4-EC6DD3918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FCC9A5-FD5C-9E4E-88B3-AC80C99C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3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AB9D30B2-3F3E-45E9-72B8-F0844BEA9CF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Landplot</a:t>
            </a:r>
            <a:endParaRPr lang="fr-FR" sz="3600" dirty="0">
              <a:solidFill>
                <a:srgbClr val="3842CA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76699F2B-010F-6ACF-91D1-F31895A73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247493"/>
              </p:ext>
            </p:extLst>
          </p:nvPr>
        </p:nvGraphicFramePr>
        <p:xfrm>
          <a:off x="6829386" y="1233488"/>
          <a:ext cx="4883189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189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Landplot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: c. 35 ha</a:t>
                      </a:r>
                    </a:p>
                    <a:p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05987704-0FF8-35B4-9F5C-A297D49325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93"/>
          <a:stretch>
            <a:fillRect/>
          </a:stretch>
        </p:blipFill>
        <p:spPr>
          <a:xfrm>
            <a:off x="731838" y="1233487"/>
            <a:ext cx="5364162" cy="5075237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4D069D-BD0A-9938-B647-8602F98220A9}"/>
              </a:ext>
            </a:extLst>
          </p:cNvPr>
          <p:cNvSpPr/>
          <p:nvPr/>
        </p:nvSpPr>
        <p:spPr>
          <a:xfrm>
            <a:off x="1105134" y="1419283"/>
            <a:ext cx="4644927" cy="3792236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349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 descr="The image shows a red, circular, pinpoint symbol typically used to represent a location or point on a map.&#10;&#10;Le contenu généré par l’IA peut être incorrect.">
            <a:extLst>
              <a:ext uri="{FF2B5EF4-FFF2-40B4-BE49-F238E27FC236}">
                <a16:creationId xmlns:a16="http://schemas.microsoft.com/office/drawing/2014/main" id="{1F894F2F-59E0-2303-E6A2-1BFB72907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262" y="2826327"/>
            <a:ext cx="602673" cy="60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900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87DB2BCA-271C-DB7E-DD97-0E66C25BFCD0}"/>
              </a:ext>
            </a:extLst>
          </p:cNvPr>
          <p:cNvSpPr txBox="1"/>
          <p:nvPr/>
        </p:nvSpPr>
        <p:spPr>
          <a:xfrm>
            <a:off x="6717987" y="1428383"/>
            <a:ext cx="3392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Protest Strike" pitchFamily="2" charset="0"/>
              </a:rPr>
              <a:t>Pas de risque aérien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9DB71593-59B2-9231-7910-92FED26058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Airports</a:t>
            </a:r>
            <a:endParaRPr lang="fr-FR" sz="3600" dirty="0">
              <a:solidFill>
                <a:srgbClr val="3842CA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E202AB19-9717-ED78-3C68-F5F243107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373306"/>
              </p:ext>
            </p:extLst>
          </p:nvPr>
        </p:nvGraphicFramePr>
        <p:xfrm>
          <a:off x="6827837" y="1233488"/>
          <a:ext cx="488473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737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lus Jakarta Sans" pitchFamily="2" charset="0"/>
                          <a:cs typeface="Plus Jakarta Sans" pitchFamily="2" charset="0"/>
                        </a:rPr>
                        <a:t>Landplot</a:t>
                      </a:r>
                      <a:r>
                        <a:rPr lang="en-US" sz="1400" dirty="0">
                          <a:latin typeface="Plus Jakarta Sans" pitchFamily="2" charset="0"/>
                          <a:cs typeface="Plus Jakarta Sans" pitchFamily="2" charset="0"/>
                        </a:rPr>
                        <a:t> outside any aerodrome servitude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4343A98-762C-2E4A-383D-CE111240C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989"/>
          <a:stretch>
            <a:fillRect/>
          </a:stretch>
        </p:blipFill>
        <p:spPr>
          <a:xfrm>
            <a:off x="731838" y="1233488"/>
            <a:ext cx="5364162" cy="507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47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4F4F3DA9-7537-9D1F-4F02-CD17C2E8CD6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Connectivity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21CE3DA3-7E90-9584-5C08-DC0A1F1BA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337189"/>
              </p:ext>
            </p:extLst>
          </p:nvPr>
        </p:nvGraphicFramePr>
        <p:xfrm>
          <a:off x="6827839" y="1233489"/>
          <a:ext cx="4884735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735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lus Jakarta Sans" pitchFamily="2" charset="0"/>
                          <a:cs typeface="Plus Jakarta Sans" pitchFamily="2" charset="0"/>
                        </a:rPr>
                        <a:t>The site is very close to major fiber backbone </a:t>
                      </a:r>
                    </a:p>
                    <a:p>
                      <a:endParaRPr lang="en-US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(50m distance)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B207762-2FC7-33D2-5A3B-010D924AF9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28"/>
          <a:stretch>
            <a:fillRect/>
          </a:stretch>
        </p:blipFill>
        <p:spPr>
          <a:xfrm>
            <a:off x="731838" y="1233488"/>
            <a:ext cx="5364162" cy="5075237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4DFE73E-BB11-2DE0-47CB-C243C9D54510}"/>
              </a:ext>
            </a:extLst>
          </p:cNvPr>
          <p:cNvSpPr/>
          <p:nvPr/>
        </p:nvSpPr>
        <p:spPr>
          <a:xfrm>
            <a:off x="1290918" y="2559052"/>
            <a:ext cx="2695388" cy="2162360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349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The image shows a red, circular, pinpoint symbol typically used to represent a location or point on a map.&#10;&#10;Le contenu généré par l’IA peut être incorrect.">
            <a:extLst>
              <a:ext uri="{FF2B5EF4-FFF2-40B4-BE49-F238E27FC236}">
                <a16:creationId xmlns:a16="http://schemas.microsoft.com/office/drawing/2014/main" id="{847C215C-66C1-9FB2-A934-7654EA70C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062" y="3168433"/>
            <a:ext cx="602673" cy="602673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B94FE56-7008-4E35-1F32-134CB4F6C8BE}"/>
              </a:ext>
            </a:extLst>
          </p:cNvPr>
          <p:cNvSpPr/>
          <p:nvPr/>
        </p:nvSpPr>
        <p:spPr>
          <a:xfrm>
            <a:off x="723153" y="2336800"/>
            <a:ext cx="5360894" cy="3561976"/>
          </a:xfrm>
          <a:custGeom>
            <a:avLst/>
            <a:gdLst>
              <a:gd name="csX0" fmla="*/ 0 w 5360894"/>
              <a:gd name="csY0" fmla="*/ 3561976 h 3561976"/>
              <a:gd name="csX1" fmla="*/ 543859 w 5360894"/>
              <a:gd name="csY1" fmla="*/ 3006165 h 3561976"/>
              <a:gd name="csX2" fmla="*/ 1099671 w 5360894"/>
              <a:gd name="csY2" fmla="*/ 2581835 h 3561976"/>
              <a:gd name="csX3" fmla="*/ 1649506 w 5360894"/>
              <a:gd name="csY3" fmla="*/ 2247153 h 3561976"/>
              <a:gd name="csX4" fmla="*/ 2802965 w 5360894"/>
              <a:gd name="csY4" fmla="*/ 1637553 h 3561976"/>
              <a:gd name="csX5" fmla="*/ 4040094 w 5360894"/>
              <a:gd name="csY5" fmla="*/ 974165 h 3561976"/>
              <a:gd name="csX6" fmla="*/ 4828988 w 5360894"/>
              <a:gd name="csY6" fmla="*/ 490071 h 3561976"/>
              <a:gd name="csX7" fmla="*/ 5139765 w 5360894"/>
              <a:gd name="csY7" fmla="*/ 185271 h 3561976"/>
              <a:gd name="csX8" fmla="*/ 5360894 w 5360894"/>
              <a:gd name="csY8" fmla="*/ 0 h 3561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360894" h="3561976">
                <a:moveTo>
                  <a:pt x="0" y="3561976"/>
                </a:moveTo>
                <a:lnTo>
                  <a:pt x="543859" y="3006165"/>
                </a:lnTo>
                <a:lnTo>
                  <a:pt x="1099671" y="2581835"/>
                </a:lnTo>
                <a:lnTo>
                  <a:pt x="1649506" y="2247153"/>
                </a:lnTo>
                <a:lnTo>
                  <a:pt x="2802965" y="1637553"/>
                </a:lnTo>
                <a:lnTo>
                  <a:pt x="4040094" y="974165"/>
                </a:lnTo>
                <a:lnTo>
                  <a:pt x="4828988" y="490071"/>
                </a:lnTo>
                <a:lnTo>
                  <a:pt x="5139765" y="185271"/>
                </a:lnTo>
                <a:lnTo>
                  <a:pt x="5360894" y="0"/>
                </a:lnTo>
              </a:path>
            </a:pathLst>
          </a:custGeom>
          <a:noFill/>
          <a:ln w="317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9901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C26EA-2334-1B85-5EFA-176C23E5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21608F-F875-AA0C-9115-9777DA778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54" y="1275164"/>
            <a:ext cx="7731758" cy="4718581"/>
          </a:xfrm>
          <a:prstGeom prst="rect">
            <a:avLst/>
          </a:prstGeom>
        </p:spPr>
      </p:pic>
      <p:graphicFrame>
        <p:nvGraphicFramePr>
          <p:cNvPr id="29" name="Tableau 28">
            <a:extLst>
              <a:ext uri="{FF2B5EF4-FFF2-40B4-BE49-F238E27FC236}">
                <a16:creationId xmlns:a16="http://schemas.microsoft.com/office/drawing/2014/main" id="{52282F46-3F8C-7EC5-FE21-72BA8A47E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577273"/>
              </p:ext>
            </p:extLst>
          </p:nvPr>
        </p:nvGraphicFramePr>
        <p:xfrm>
          <a:off x="8282609" y="1233488"/>
          <a:ext cx="3429966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966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000" b="1" i="0" kern="1200" dirty="0">
                        <a:solidFill>
                          <a:schemeClr val="lt1"/>
                        </a:solidFill>
                        <a:effectLst/>
                        <a:latin typeface="Plus Jakarta Sans" pitchFamily="2" charset="0"/>
                        <a:ea typeface="+mn-ea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The site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offers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diversified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power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connection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options </a:t>
                      </a:r>
                    </a:p>
                    <a:p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1 – 63KV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substation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(450m distance)</a:t>
                      </a:r>
                    </a:p>
                    <a:p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2 – Études 225KV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substation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</a:t>
                      </a:r>
                    </a:p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(1.9km distance)</a:t>
                      </a:r>
                    </a:p>
                    <a:p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sp>
        <p:nvSpPr>
          <p:cNvPr id="4" name="Titre 1">
            <a:extLst>
              <a:ext uri="{FF2B5EF4-FFF2-40B4-BE49-F238E27FC236}">
                <a16:creationId xmlns:a16="http://schemas.microsoft.com/office/drawing/2014/main" id="{26105947-B0D0-4279-95C3-C60D60A8054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Power </a:t>
            </a:r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environment</a:t>
            </a:r>
            <a:endParaRPr lang="fr-FR" sz="3600" dirty="0">
              <a:solidFill>
                <a:srgbClr val="3842CA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C88C00E-DE11-09CB-2136-3ABD7E2398B2}"/>
              </a:ext>
            </a:extLst>
          </p:cNvPr>
          <p:cNvSpPr/>
          <p:nvPr/>
        </p:nvSpPr>
        <p:spPr>
          <a:xfrm>
            <a:off x="7337148" y="4385653"/>
            <a:ext cx="450899" cy="450899"/>
          </a:xfrm>
          <a:prstGeom prst="ellipse">
            <a:avLst/>
          </a:prstGeom>
          <a:solidFill>
            <a:srgbClr val="0ED1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12CD362-2257-8647-1054-1DAC7EE3C1FF}"/>
              </a:ext>
            </a:extLst>
          </p:cNvPr>
          <p:cNvSpPr/>
          <p:nvPr/>
        </p:nvSpPr>
        <p:spPr>
          <a:xfrm>
            <a:off x="1249536" y="2668427"/>
            <a:ext cx="450899" cy="450899"/>
          </a:xfrm>
          <a:prstGeom prst="ellipse">
            <a:avLst/>
          </a:prstGeom>
          <a:solidFill>
            <a:srgbClr val="0ED1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BFD7E9A-B12A-7044-716A-B8A80D1D7C6A}"/>
              </a:ext>
            </a:extLst>
          </p:cNvPr>
          <p:cNvSpPr/>
          <p:nvPr/>
        </p:nvSpPr>
        <p:spPr>
          <a:xfrm>
            <a:off x="6438181" y="3143045"/>
            <a:ext cx="450899" cy="450899"/>
          </a:xfrm>
          <a:prstGeom prst="ellipse">
            <a:avLst/>
          </a:prstGeom>
          <a:solidFill>
            <a:srgbClr val="0ED1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13" name="Image 6" descr="The image shows a red, circular, pinpoint symbol typically used to represent a location or point on a map.&#10;&#10;Le contenu généré par l’IA peut être incorrect.">
            <a:extLst>
              <a:ext uri="{FF2B5EF4-FFF2-40B4-BE49-F238E27FC236}">
                <a16:creationId xmlns:a16="http://schemas.microsoft.com/office/drawing/2014/main" id="{E30A13E3-7BF9-011A-3093-22FF9AD01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187" y="2998797"/>
            <a:ext cx="450899" cy="450899"/>
          </a:xfrm>
          <a:prstGeom prst="rect">
            <a:avLst/>
          </a:prstGeom>
        </p:spPr>
      </p:pic>
      <p:sp>
        <p:nvSpPr>
          <p:cNvPr id="6" name="Freeform: Shape 9">
            <a:extLst>
              <a:ext uri="{FF2B5EF4-FFF2-40B4-BE49-F238E27FC236}">
                <a16:creationId xmlns:a16="http://schemas.microsoft.com/office/drawing/2014/main" id="{8F32EDDC-ED34-C411-24A6-2D2AA275EC23}"/>
              </a:ext>
            </a:extLst>
          </p:cNvPr>
          <p:cNvSpPr/>
          <p:nvPr/>
        </p:nvSpPr>
        <p:spPr>
          <a:xfrm>
            <a:off x="2123719" y="2395487"/>
            <a:ext cx="2383583" cy="1946016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349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3619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C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874C72-99F4-EE4F-5EAC-DCA6DEFE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051A5C-AB79-A7BD-5D01-CED71C0103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>
                <a:latin typeface="Plus Jakarta Sans" pitchFamily="2" charset="0"/>
                <a:cs typeface="Plus Jakarta Sans" pitchFamily="2" charset="0"/>
              </a:rPr>
              <a:t>Environmental</a:t>
            </a:r>
            <a:r>
              <a:rPr lang="fr-FR" dirty="0">
                <a:latin typeface="Plus Jakarta Sans" pitchFamily="2" charset="0"/>
                <a:cs typeface="Plus Jakarta Sans" pitchFamily="2" charset="0"/>
              </a:rPr>
              <a:t> Risks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B0317A-BAC4-0F5E-0FB1-4AEEC17D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1411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EAE2A-69FB-516F-B39C-5952CE5A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C60C44C-CD72-37B7-2FF4-659B42532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8</a:t>
            </a:fld>
            <a:endParaRPr lang="fr-FR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A85689D-1EC7-5B13-6D5E-182BC7C0F37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Technological</a:t>
            </a:r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 &amp; Chemical Risk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8BBDBB26-2926-F40F-EA56-FF07F4799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332366"/>
              </p:ext>
            </p:extLst>
          </p:nvPr>
        </p:nvGraphicFramePr>
        <p:xfrm>
          <a:off x="6827838" y="1233488"/>
          <a:ext cx="4884737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737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No </a:t>
                      </a:r>
                      <a:r>
                        <a:rPr lang="en-US" sz="1400" dirty="0">
                          <a:latin typeface="Plus Jakarta Sans" pitchFamily="2" charset="0"/>
                          <a:cs typeface="Plus Jakarta Sans" pitchFamily="2" charset="0"/>
                        </a:rPr>
                        <a:t>SEVESO high sites within 1.5 km</a:t>
                      </a:r>
                    </a:p>
                    <a:p>
                      <a:endParaRPr lang="en-US" sz="1400" b="1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3FAC26DE-B2F2-9E5D-0519-DBA0E1A07FC0}"/>
              </a:ext>
            </a:extLst>
          </p:cNvPr>
          <p:cNvSpPr/>
          <p:nvPr/>
        </p:nvSpPr>
        <p:spPr>
          <a:xfrm>
            <a:off x="4711457" y="6336880"/>
            <a:ext cx="4009436" cy="50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*^*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49C06B-40DD-E4D6-F02B-CDFBC76D8C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66"/>
          <a:stretch>
            <a:fillRect/>
          </a:stretch>
        </p:blipFill>
        <p:spPr>
          <a:xfrm>
            <a:off x="731838" y="1233488"/>
            <a:ext cx="5364162" cy="5075237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F15A411-CE05-C17A-75D9-8615BEBB0F4E}"/>
              </a:ext>
            </a:extLst>
          </p:cNvPr>
          <p:cNvSpPr/>
          <p:nvPr/>
        </p:nvSpPr>
        <p:spPr>
          <a:xfrm>
            <a:off x="1845115" y="3161553"/>
            <a:ext cx="2810556" cy="2345330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4445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25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3F2B79C-A3F9-5D2A-3C36-181D23873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9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16FB9F9-E660-DA35-D7CA-C0B1027E706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Technological</a:t>
            </a:r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 Risks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14391EE8-58AC-1BAC-E3DE-53214B9C6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812608"/>
              </p:ext>
            </p:extLst>
          </p:nvPr>
        </p:nvGraphicFramePr>
        <p:xfrm>
          <a:off x="6827839" y="1233488"/>
          <a:ext cx="4884736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736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Landplot</a:t>
                      </a:r>
                      <a:r>
                        <a:rPr lang="en-US" sz="1400" b="0" dirty="0">
                          <a:latin typeface="Plus Jakarta Sans" pitchFamily="2" charset="0"/>
                          <a:cs typeface="Plus Jakarta Sans" pitchFamily="2" charset="0"/>
                        </a:rPr>
                        <a:t> impacted by hydrocarbon and gas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ACEF42E-DFEC-7DEE-2E73-F61D186583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75"/>
          <a:stretch>
            <a:fillRect/>
          </a:stretch>
        </p:blipFill>
        <p:spPr>
          <a:xfrm>
            <a:off x="731838" y="1236045"/>
            <a:ext cx="5364162" cy="507268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012393D-5A7B-DC44-CC15-0A2F3BFD5346}"/>
              </a:ext>
            </a:extLst>
          </p:cNvPr>
          <p:cNvSpPr/>
          <p:nvPr/>
        </p:nvSpPr>
        <p:spPr>
          <a:xfrm>
            <a:off x="2006480" y="3367245"/>
            <a:ext cx="2695529" cy="2175492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4445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7143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B7936D97-6586-D555-DFF9-2C6810F3F01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Flood </a:t>
            </a:r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risk</a:t>
            </a:r>
            <a:endParaRPr lang="fr-FR" sz="3600" dirty="0">
              <a:solidFill>
                <a:srgbClr val="3842CA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EFB50A75-40C7-E58D-3E8E-6CDA82BCD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714747"/>
              </p:ext>
            </p:extLst>
          </p:nvPr>
        </p:nvGraphicFramePr>
        <p:xfrm>
          <a:off x="6475211" y="1233488"/>
          <a:ext cx="5237364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7364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lus Jakarta Sans" pitchFamily="2" charset="0"/>
                          <a:cs typeface="Plus Jakarta Sans" pitchFamily="2" charset="0"/>
                        </a:rPr>
                        <a:t>Landplot</a:t>
                      </a:r>
                      <a:r>
                        <a:rPr lang="en-US" sz="1400" dirty="0">
                          <a:latin typeface="Plus Jakarta Sans" pitchFamily="2" charset="0"/>
                          <a:cs typeface="Plus Jakarta Sans" pitchFamily="2" charset="0"/>
                        </a:rPr>
                        <a:t> impacted by the flood area</a:t>
                      </a:r>
                    </a:p>
                    <a:p>
                      <a:endParaRPr lang="en-US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CD56829-1ADE-09CE-5AE7-C39870C888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15"/>
          <a:stretch>
            <a:fillRect/>
          </a:stretch>
        </p:blipFill>
        <p:spPr>
          <a:xfrm>
            <a:off x="731838" y="1233488"/>
            <a:ext cx="5364162" cy="5075237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7DDC61-A19C-3A44-3029-56010163C6B4}"/>
              </a:ext>
            </a:extLst>
          </p:cNvPr>
          <p:cNvSpPr/>
          <p:nvPr/>
        </p:nvSpPr>
        <p:spPr>
          <a:xfrm>
            <a:off x="1787405" y="2905125"/>
            <a:ext cx="3037008" cy="2475687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5080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 descr="The image shows a red, circular, pinpoint symbol typically used to represent a location or point on a map.&#10;&#10;Le contenu généré par l’IA peut être incorrect.">
            <a:extLst>
              <a:ext uri="{FF2B5EF4-FFF2-40B4-BE49-F238E27FC236}">
                <a16:creationId xmlns:a16="http://schemas.microsoft.com/office/drawing/2014/main" id="{6CDC2EA5-B668-F03B-7191-5734533E7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039" y="3527735"/>
            <a:ext cx="602673" cy="60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80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40CFC266-071B-781D-3054-9E21CC9705A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Soil</a:t>
            </a:r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 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FF5ED169-000E-37F9-9324-A5CECCED9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523808"/>
              </p:ext>
            </p:extLst>
          </p:nvPr>
        </p:nvGraphicFramePr>
        <p:xfrm>
          <a:off x="6475710" y="1235530"/>
          <a:ext cx="5242764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2764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i="0" dirty="0">
                          <a:latin typeface="Plus Jakarta Sans" pitchFamily="2" charset="0"/>
                          <a:cs typeface="Plus Jakarta Sans" pitchFamily="2" charset="0"/>
                        </a:rPr>
                        <a:t>Marls containing Helix and Mytilus, sandstone, conglomerates and lacustrine limestones (</a:t>
                      </a:r>
                      <a:r>
                        <a:rPr lang="en-US" sz="1400" i="0" dirty="0" err="1">
                          <a:latin typeface="Plus Jakarta Sans" pitchFamily="2" charset="0"/>
                          <a:cs typeface="Plus Jakarta Sans" pitchFamily="2" charset="0"/>
                        </a:rPr>
                        <a:t>Ludian</a:t>
                      </a:r>
                      <a:r>
                        <a:rPr lang="en-US" sz="1400" i="0" dirty="0">
                          <a:latin typeface="Plus Jakarta Sans" pitchFamily="2" charset="0"/>
                          <a:cs typeface="Plus Jakarta Sans" pitchFamily="2" charset="0"/>
                        </a:rPr>
                        <a:t>)</a:t>
                      </a:r>
                    </a:p>
                    <a:p>
                      <a:endParaRPr lang="en-US" sz="1400" i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en-US" sz="1400" i="0" dirty="0">
                          <a:latin typeface="Plus Jakarta Sans" pitchFamily="2" charset="0"/>
                          <a:cs typeface="Plus Jakarta Sans" pitchFamily="2" charset="0"/>
                        </a:rPr>
                        <a:t>Recent undifferentiated alluvial deposits, gravel, sand and clay</a:t>
                      </a:r>
                      <a:endParaRPr lang="fr-FR" sz="1400" b="0" i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1640376-E086-A129-04F4-734FBD9AE5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25"/>
          <a:stretch>
            <a:fillRect/>
          </a:stretch>
        </p:blipFill>
        <p:spPr>
          <a:xfrm>
            <a:off x="731838" y="1233488"/>
            <a:ext cx="5364162" cy="5075238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72900F2-A834-DA85-258E-C0B2D8EA184E}"/>
              </a:ext>
            </a:extLst>
          </p:cNvPr>
          <p:cNvSpPr/>
          <p:nvPr/>
        </p:nvSpPr>
        <p:spPr>
          <a:xfrm>
            <a:off x="2109694" y="2450355"/>
            <a:ext cx="2952377" cy="2402541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4445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 descr="The image shows a red, circular, pinpoint symbol typically used to represent a location or point on a map.&#10;&#10;Le contenu généré par l’IA peut être incorrect.">
            <a:extLst>
              <a:ext uri="{FF2B5EF4-FFF2-40B4-BE49-F238E27FC236}">
                <a16:creationId xmlns:a16="http://schemas.microsoft.com/office/drawing/2014/main" id="{32CCBA89-A988-3B7B-9FE5-8E844E33A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260" y="3257949"/>
            <a:ext cx="472387" cy="47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279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C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328C2-D207-14DC-705D-4433CC04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415851-6F4E-7086-E608-9A6F2C443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280910"/>
          </a:xfrm>
        </p:spPr>
        <p:txBody>
          <a:bodyPr anchor="ctr">
            <a:normAutofit/>
          </a:bodyPr>
          <a:lstStyle/>
          <a:p>
            <a:r>
              <a:rPr lang="fr-FR" dirty="0">
                <a:latin typeface="Plus Jakarta Sans" pitchFamily="2" charset="0"/>
                <a:cs typeface="Plus Jakarta Sans" pitchFamily="2" charset="0"/>
              </a:rPr>
              <a:t>Local </a:t>
            </a:r>
            <a:r>
              <a:rPr lang="fr-FR" dirty="0" err="1">
                <a:latin typeface="Plus Jakarta Sans" pitchFamily="2" charset="0"/>
                <a:cs typeface="Plus Jakarta Sans" pitchFamily="2" charset="0"/>
              </a:rPr>
              <a:t>urban</a:t>
            </a:r>
            <a:r>
              <a:rPr lang="fr-FR" dirty="0"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fr-FR" dirty="0" err="1">
                <a:latin typeface="Plus Jakarta Sans" pitchFamily="2" charset="0"/>
                <a:cs typeface="Plus Jakarta Sans" pitchFamily="2" charset="0"/>
              </a:rPr>
              <a:t>development</a:t>
            </a:r>
            <a:r>
              <a:rPr lang="fr-FR" dirty="0">
                <a:latin typeface="Plus Jakarta Sans" pitchFamily="2" charset="0"/>
                <a:cs typeface="Plus Jakarta Sans" pitchFamily="2" charset="0"/>
              </a:rPr>
              <a:t> </a:t>
            </a:r>
            <a:br>
              <a:rPr lang="fr-FR" dirty="0">
                <a:latin typeface="Plus Jakarta Sans" pitchFamily="2" charset="0"/>
                <a:cs typeface="Plus Jakarta Sans" pitchFamily="2" charset="0"/>
              </a:rPr>
            </a:br>
            <a:r>
              <a:rPr lang="fr-FR" dirty="0" err="1">
                <a:latin typeface="Plus Jakarta Sans" pitchFamily="2" charset="0"/>
                <a:cs typeface="Plus Jakarta Sans" pitchFamily="2" charset="0"/>
              </a:rPr>
              <a:t>analysis</a:t>
            </a:r>
            <a:r>
              <a:rPr lang="fr-FR" dirty="0">
                <a:latin typeface="Plus Jakarta Sans" pitchFamily="2" charset="0"/>
                <a:cs typeface="Plus Jakarta Sans" pitchFamily="2" charset="0"/>
              </a:rPr>
              <a:t> (PLU)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9529D6-F7C0-EC15-432A-0003D21CC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3877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BA8DA1-8E7A-E094-D428-B8D7E4F1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13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8BCEB89D-6C7C-2A0E-9652-2E7855CD4FF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PLU </a:t>
            </a:r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analysis</a:t>
            </a:r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 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012746D1-9AF2-3229-B074-FAACCC1EE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903429"/>
              </p:ext>
            </p:extLst>
          </p:nvPr>
        </p:nvGraphicFramePr>
        <p:xfrm>
          <a:off x="6469811" y="1251046"/>
          <a:ext cx="5242764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2764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Landplot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located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in UZ and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UYb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area</a:t>
                      </a: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UZ :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Industrial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estate</a:t>
                      </a:r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UYb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: </a:t>
                      </a:r>
                      <a:r>
                        <a:rPr lang="en-US" sz="1400" b="0" dirty="0">
                          <a:latin typeface="Plus Jakarta Sans" pitchFamily="2" charset="0"/>
                          <a:cs typeface="Plus Jakarta Sans" pitchFamily="2" charset="0"/>
                        </a:rPr>
                        <a:t>Sites intended primarily for industrial activities</a:t>
                      </a:r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B56C0C8-28BD-8913-5D2B-E824F03B5D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40"/>
          <a:stretch>
            <a:fillRect/>
          </a:stretch>
        </p:blipFill>
        <p:spPr>
          <a:xfrm>
            <a:off x="731838" y="1233488"/>
            <a:ext cx="5364162" cy="5038048"/>
          </a:xfrm>
          <a:prstGeom prst="rect">
            <a:avLst/>
          </a:prstGeom>
        </p:spPr>
      </p:pic>
      <p:pic>
        <p:nvPicPr>
          <p:cNvPr id="10" name="Image 7" descr="The image shows a red, circular, pinpoint symbol typically used to represent a location or point on a map.&#10;&#10;Le contenu généré par l’IA peut être incorrect.">
            <a:extLst>
              <a:ext uri="{FF2B5EF4-FFF2-40B4-BE49-F238E27FC236}">
                <a16:creationId xmlns:a16="http://schemas.microsoft.com/office/drawing/2014/main" id="{BAB50091-A60C-BC6A-9B82-9B7BF933B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217" y="3065929"/>
            <a:ext cx="431284" cy="431284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382B2B3-5B3B-FB84-4231-4C381BD0423C}"/>
              </a:ext>
            </a:extLst>
          </p:cNvPr>
          <p:cNvSpPr/>
          <p:nvPr/>
        </p:nvSpPr>
        <p:spPr>
          <a:xfrm>
            <a:off x="2462306" y="2353406"/>
            <a:ext cx="2510118" cy="2083688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38100">
            <a:solidFill>
              <a:srgbClr val="3842C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6490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FD76F-A0F7-1F69-53B9-950E9F04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49C840-99D9-93B3-9856-46778A26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14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00CDC6-A772-AB10-AAAA-1FCD0322232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PLU </a:t>
            </a:r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analysis</a:t>
            </a:r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 </a:t>
            </a:r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3B79F1D1-9C2B-83E2-8680-DBF323646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92995"/>
              </p:ext>
            </p:extLst>
          </p:nvPr>
        </p:nvGraphicFramePr>
        <p:xfrm>
          <a:off x="6469811" y="1251046"/>
          <a:ext cx="5242764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2764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: UZ area</a:t>
                      </a: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Footprint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: </a:t>
                      </a:r>
                      <a:r>
                        <a:rPr lang="en-US" sz="1400" b="0" dirty="0">
                          <a:latin typeface="Plus Jakarta Sans" pitchFamily="2" charset="0"/>
                          <a:cs typeface="Plus Jakarta Sans" pitchFamily="2" charset="0"/>
                        </a:rPr>
                        <a:t>No specific floor area</a:t>
                      </a:r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Height: max 25m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80F7B7A-4E00-8432-82E2-176F5A048A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60" b="62787"/>
          <a:stretch>
            <a:fillRect/>
          </a:stretch>
        </p:blipFill>
        <p:spPr>
          <a:xfrm>
            <a:off x="679170" y="1601711"/>
            <a:ext cx="4364694" cy="20724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AC120D-DBD2-FAD0-1986-E275947CC8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391" r="51761" b="1197"/>
          <a:stretch>
            <a:fillRect/>
          </a:stretch>
        </p:blipFill>
        <p:spPr>
          <a:xfrm>
            <a:off x="679170" y="1312397"/>
            <a:ext cx="4010212" cy="39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3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5D011-21AC-A7B7-08D9-300B69D8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D0E183-13A3-3CE7-C56B-5B02701E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15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575E3A7-FF25-4A0C-84BD-8DBF5DA20EB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PLU </a:t>
            </a:r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analysis</a:t>
            </a:r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 </a:t>
            </a:r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C98918F-83BA-63B9-E00A-A9A228159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861483"/>
              </p:ext>
            </p:extLst>
          </p:nvPr>
        </p:nvGraphicFramePr>
        <p:xfrm>
          <a:off x="6469811" y="1251046"/>
          <a:ext cx="5242764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2764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: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UYb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area</a:t>
                      </a: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Footprint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: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unregulated</a:t>
                      </a:r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Height: max 40m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0036151-BD21-2F6E-751C-611EF3133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23" y="1251046"/>
            <a:ext cx="5445977" cy="32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75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C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40974-E196-CF6E-E085-905136DC4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5FE3F3-A334-F96F-BF39-07F36DBE6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280910"/>
          </a:xfrm>
        </p:spPr>
        <p:txBody>
          <a:bodyPr anchor="ctr">
            <a:normAutofit/>
          </a:bodyPr>
          <a:lstStyle/>
          <a:p>
            <a:r>
              <a:rPr lang="fr-FR" dirty="0">
                <a:latin typeface="Plus Jakarta Sans" pitchFamily="2" charset="0"/>
                <a:cs typeface="Plus Jakarta Sans" pitchFamily="2" charset="0"/>
              </a:rPr>
              <a:t>Macro </a:t>
            </a:r>
            <a:r>
              <a:rPr lang="fr-FR" dirty="0" err="1">
                <a:latin typeface="Plus Jakarta Sans" pitchFamily="2" charset="0"/>
                <a:cs typeface="Plus Jakarta Sans" pitchFamily="2" charset="0"/>
              </a:rPr>
              <a:t>Sizing</a:t>
            </a:r>
            <a:endParaRPr lang="fr-FR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55E0F1-C8F2-82BE-5B6E-DDE22336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0123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19EB1-8EAA-70D3-B72D-ECBAB6511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ACB6A8-BDC8-4A95-2A49-ED07D440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17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AC9B859-C0B2-2F27-9381-78F816308D1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PLU </a:t>
            </a:r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analysis</a:t>
            </a:r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 </a:t>
            </a:r>
          </a:p>
        </p:txBody>
      </p:sp>
      <p:graphicFrame>
        <p:nvGraphicFramePr>
          <p:cNvPr id="2" name="Tableau 7">
            <a:extLst>
              <a:ext uri="{FF2B5EF4-FFF2-40B4-BE49-F238E27FC236}">
                <a16:creationId xmlns:a16="http://schemas.microsoft.com/office/drawing/2014/main" id="{D4BA5445-E42D-5485-0486-170ECBF44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238900"/>
              </p:ext>
            </p:extLst>
          </p:nvPr>
        </p:nvGraphicFramePr>
        <p:xfrm>
          <a:off x="6827839" y="1233488"/>
          <a:ext cx="4884735" cy="5085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735">
                  <a:extLst>
                    <a:ext uri="{9D8B030D-6E8A-4147-A177-3AD203B41FA5}">
                      <a16:colId xmlns:a16="http://schemas.microsoft.com/office/drawing/2014/main" val="4217461768"/>
                    </a:ext>
                  </a:extLst>
                </a:gridCol>
              </a:tblGrid>
              <a:tr h="360438">
                <a:tc>
                  <a:txBody>
                    <a:bodyPr/>
                    <a:lstStyle/>
                    <a:p>
                      <a:r>
                        <a:rPr lang="fr-FR" sz="1400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685359"/>
                  </a:ext>
                </a:extLst>
              </a:tr>
              <a:tr h="4725325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Landplot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: c. 35 ha land area</a:t>
                      </a: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DC Building : 210 000sqm</a:t>
                      </a: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1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level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building 7m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with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5m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technical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roof</a:t>
                      </a: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Data Hall : 105 000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sqm</a:t>
                      </a:r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IT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Load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:250 MW</a:t>
                      </a: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PUE : 1,4</a:t>
                      </a: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Total Power : 350 MW</a:t>
                      </a: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endParaRPr lang="fr-FR" sz="1400" b="1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CCD2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14571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566ACF0-F3FD-80B8-486D-42E307B702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93"/>
          <a:stretch>
            <a:fillRect/>
          </a:stretch>
        </p:blipFill>
        <p:spPr>
          <a:xfrm>
            <a:off x="731838" y="1233487"/>
            <a:ext cx="5364162" cy="5075237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106288A-F9E3-97DA-3ADC-3481F6D87F99}"/>
              </a:ext>
            </a:extLst>
          </p:cNvPr>
          <p:cNvSpPr/>
          <p:nvPr/>
        </p:nvSpPr>
        <p:spPr>
          <a:xfrm>
            <a:off x="1105134" y="1419283"/>
            <a:ext cx="4644927" cy="3792236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349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B6C6A1-7DE9-1769-990A-21DA1B6E8AEE}"/>
              </a:ext>
            </a:extLst>
          </p:cNvPr>
          <p:cNvSpPr/>
          <p:nvPr/>
        </p:nvSpPr>
        <p:spPr>
          <a:xfrm>
            <a:off x="1109663" y="2886075"/>
            <a:ext cx="4643437" cy="2314575"/>
          </a:xfrm>
          <a:custGeom>
            <a:avLst/>
            <a:gdLst>
              <a:gd name="csX0" fmla="*/ 4457700 w 4643437"/>
              <a:gd name="csY0" fmla="*/ 0 h 2314575"/>
              <a:gd name="csX1" fmla="*/ 4048125 w 4643437"/>
              <a:gd name="csY1" fmla="*/ 271463 h 2314575"/>
              <a:gd name="csX2" fmla="*/ 3300412 w 4643437"/>
              <a:gd name="csY2" fmla="*/ 481013 h 2314575"/>
              <a:gd name="csX3" fmla="*/ 2700337 w 4643437"/>
              <a:gd name="csY3" fmla="*/ 623888 h 2314575"/>
              <a:gd name="csX4" fmla="*/ 1914525 w 4643437"/>
              <a:gd name="csY4" fmla="*/ 466725 h 2314575"/>
              <a:gd name="csX5" fmla="*/ 2052637 w 4643437"/>
              <a:gd name="csY5" fmla="*/ 804863 h 2314575"/>
              <a:gd name="csX6" fmla="*/ 319087 w 4643437"/>
              <a:gd name="csY6" fmla="*/ 1557338 h 2314575"/>
              <a:gd name="csX7" fmla="*/ 0 w 4643437"/>
              <a:gd name="csY7" fmla="*/ 1790700 h 2314575"/>
              <a:gd name="csX8" fmla="*/ 123825 w 4643437"/>
              <a:gd name="csY8" fmla="*/ 2085975 h 2314575"/>
              <a:gd name="csX9" fmla="*/ 61912 w 4643437"/>
              <a:gd name="csY9" fmla="*/ 2262188 h 2314575"/>
              <a:gd name="csX10" fmla="*/ 1214437 w 4643437"/>
              <a:gd name="csY10" fmla="*/ 2314575 h 2314575"/>
              <a:gd name="csX11" fmla="*/ 1271587 w 4643437"/>
              <a:gd name="csY11" fmla="*/ 2219325 h 2314575"/>
              <a:gd name="csX12" fmla="*/ 3048000 w 4643437"/>
              <a:gd name="csY12" fmla="*/ 1333500 h 2314575"/>
              <a:gd name="csX13" fmla="*/ 3043237 w 4643437"/>
              <a:gd name="csY13" fmla="*/ 1262063 h 2314575"/>
              <a:gd name="csX14" fmla="*/ 4643437 w 4643437"/>
              <a:gd name="csY14" fmla="*/ 409575 h 2314575"/>
              <a:gd name="csX15" fmla="*/ 4457700 w 4643437"/>
              <a:gd name="csY15" fmla="*/ 0 h 2314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4643437" h="2314575">
                <a:moveTo>
                  <a:pt x="4457700" y="0"/>
                </a:moveTo>
                <a:lnTo>
                  <a:pt x="4048125" y="271463"/>
                </a:lnTo>
                <a:lnTo>
                  <a:pt x="3300412" y="481013"/>
                </a:lnTo>
                <a:lnTo>
                  <a:pt x="2700337" y="623888"/>
                </a:lnTo>
                <a:lnTo>
                  <a:pt x="1914525" y="466725"/>
                </a:lnTo>
                <a:lnTo>
                  <a:pt x="2052637" y="804863"/>
                </a:lnTo>
                <a:lnTo>
                  <a:pt x="319087" y="1557338"/>
                </a:lnTo>
                <a:lnTo>
                  <a:pt x="0" y="1790700"/>
                </a:lnTo>
                <a:lnTo>
                  <a:pt x="123825" y="2085975"/>
                </a:lnTo>
                <a:lnTo>
                  <a:pt x="61912" y="2262188"/>
                </a:lnTo>
                <a:lnTo>
                  <a:pt x="1214437" y="2314575"/>
                </a:lnTo>
                <a:lnTo>
                  <a:pt x="1271587" y="2219325"/>
                </a:lnTo>
                <a:lnTo>
                  <a:pt x="3048000" y="1333500"/>
                </a:lnTo>
                <a:lnTo>
                  <a:pt x="3043237" y="1262063"/>
                </a:lnTo>
                <a:lnTo>
                  <a:pt x="4643437" y="409575"/>
                </a:lnTo>
                <a:lnTo>
                  <a:pt x="4457700" y="0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4589076-154F-82EF-DD43-822F7AE9F0CA}"/>
              </a:ext>
            </a:extLst>
          </p:cNvPr>
          <p:cNvSpPr/>
          <p:nvPr/>
        </p:nvSpPr>
        <p:spPr>
          <a:xfrm>
            <a:off x="2909888" y="1409700"/>
            <a:ext cx="2657475" cy="2095500"/>
          </a:xfrm>
          <a:custGeom>
            <a:avLst/>
            <a:gdLst>
              <a:gd name="csX0" fmla="*/ 123825 w 2657475"/>
              <a:gd name="csY0" fmla="*/ 1943100 h 2095500"/>
              <a:gd name="csX1" fmla="*/ 0 w 2657475"/>
              <a:gd name="csY1" fmla="*/ 1547813 h 2095500"/>
              <a:gd name="csX2" fmla="*/ 33337 w 2657475"/>
              <a:gd name="csY2" fmla="*/ 1390650 h 2095500"/>
              <a:gd name="csX3" fmla="*/ 223837 w 2657475"/>
              <a:gd name="csY3" fmla="*/ 1223963 h 2095500"/>
              <a:gd name="csX4" fmla="*/ 1281112 w 2657475"/>
              <a:gd name="csY4" fmla="*/ 776288 h 2095500"/>
              <a:gd name="csX5" fmla="*/ 1223962 w 2657475"/>
              <a:gd name="csY5" fmla="*/ 657225 h 2095500"/>
              <a:gd name="csX6" fmla="*/ 652462 w 2657475"/>
              <a:gd name="csY6" fmla="*/ 871538 h 2095500"/>
              <a:gd name="csX7" fmla="*/ 514350 w 2657475"/>
              <a:gd name="csY7" fmla="*/ 642938 h 2095500"/>
              <a:gd name="csX8" fmla="*/ 1995487 w 2657475"/>
              <a:gd name="csY8" fmla="*/ 0 h 2095500"/>
              <a:gd name="csX9" fmla="*/ 2657475 w 2657475"/>
              <a:gd name="csY9" fmla="*/ 1481138 h 2095500"/>
              <a:gd name="csX10" fmla="*/ 2324100 w 2657475"/>
              <a:gd name="csY10" fmla="*/ 1714500 h 2095500"/>
              <a:gd name="csX11" fmla="*/ 933450 w 2657475"/>
              <a:gd name="csY11" fmla="*/ 2095500 h 2095500"/>
              <a:gd name="csX12" fmla="*/ 123825 w 2657475"/>
              <a:gd name="csY12" fmla="*/ 1943100 h 209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57475" h="2095500">
                <a:moveTo>
                  <a:pt x="123825" y="1943100"/>
                </a:moveTo>
                <a:lnTo>
                  <a:pt x="0" y="1547813"/>
                </a:lnTo>
                <a:lnTo>
                  <a:pt x="33337" y="1390650"/>
                </a:lnTo>
                <a:lnTo>
                  <a:pt x="223837" y="1223963"/>
                </a:lnTo>
                <a:lnTo>
                  <a:pt x="1281112" y="776288"/>
                </a:lnTo>
                <a:lnTo>
                  <a:pt x="1223962" y="657225"/>
                </a:lnTo>
                <a:lnTo>
                  <a:pt x="652462" y="871538"/>
                </a:lnTo>
                <a:lnTo>
                  <a:pt x="514350" y="642938"/>
                </a:lnTo>
                <a:lnTo>
                  <a:pt x="1995487" y="0"/>
                </a:lnTo>
                <a:lnTo>
                  <a:pt x="2657475" y="1481138"/>
                </a:lnTo>
                <a:lnTo>
                  <a:pt x="2324100" y="1714500"/>
                </a:lnTo>
                <a:lnTo>
                  <a:pt x="933450" y="2095500"/>
                </a:lnTo>
                <a:lnTo>
                  <a:pt x="123825" y="194310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FED8EB-D26B-606B-7220-5E24E9E8D6A1}"/>
              </a:ext>
            </a:extLst>
          </p:cNvPr>
          <p:cNvSpPr/>
          <p:nvPr/>
        </p:nvSpPr>
        <p:spPr>
          <a:xfrm rot="20158803">
            <a:off x="3198332" y="2318762"/>
            <a:ext cx="2006050" cy="689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DC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5C7BF-84D3-F25C-A92B-04C762053048}"/>
              </a:ext>
            </a:extLst>
          </p:cNvPr>
          <p:cNvSpPr/>
          <p:nvPr/>
        </p:nvSpPr>
        <p:spPr>
          <a:xfrm rot="20320633">
            <a:off x="4574877" y="1634589"/>
            <a:ext cx="313581" cy="1643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/>
              <a:t>RTE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220197-7C3D-590F-E7C2-34AC9BE11F91}"/>
              </a:ext>
            </a:extLst>
          </p:cNvPr>
          <p:cNvSpPr/>
          <p:nvPr/>
        </p:nvSpPr>
        <p:spPr>
          <a:xfrm rot="20320633">
            <a:off x="4144138" y="1795374"/>
            <a:ext cx="313581" cy="1643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/>
              <a:t>RTE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F6288-D0DF-4100-C4E6-1BBCBA4A0478}"/>
              </a:ext>
            </a:extLst>
          </p:cNvPr>
          <p:cNvSpPr txBox="1"/>
          <p:nvPr/>
        </p:nvSpPr>
        <p:spPr>
          <a:xfrm>
            <a:off x="4366037" y="1850356"/>
            <a:ext cx="48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C000"/>
                </a:solidFill>
              </a:rPr>
              <a:t>UZ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0E7068-2E3F-4AC9-7A26-E9B832CA3BB7}"/>
              </a:ext>
            </a:extLst>
          </p:cNvPr>
          <p:cNvSpPr txBox="1"/>
          <p:nvPr/>
        </p:nvSpPr>
        <p:spPr>
          <a:xfrm>
            <a:off x="3713886" y="3693559"/>
            <a:ext cx="642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accent6">
                    <a:lumMod val="50000"/>
                  </a:schemeClr>
                </a:solidFill>
              </a:rPr>
              <a:t>UYb</a:t>
            </a:r>
            <a:endParaRPr lang="fr-FR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368853-8634-F701-1A18-FDBF5A6FA067}"/>
              </a:ext>
            </a:extLst>
          </p:cNvPr>
          <p:cNvSpPr/>
          <p:nvPr/>
        </p:nvSpPr>
        <p:spPr>
          <a:xfrm rot="20158803">
            <a:off x="1394264" y="4106345"/>
            <a:ext cx="2006050" cy="689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DC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B0B647-8E88-85E1-44D2-7ECA465970A3}"/>
              </a:ext>
            </a:extLst>
          </p:cNvPr>
          <p:cNvSpPr/>
          <p:nvPr/>
        </p:nvSpPr>
        <p:spPr>
          <a:xfrm rot="20158803">
            <a:off x="3509414" y="2995222"/>
            <a:ext cx="2006050" cy="689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DC 2</a:t>
            </a:r>
          </a:p>
        </p:txBody>
      </p:sp>
    </p:spTree>
    <p:extLst>
      <p:ext uri="{BB962C8B-B14F-4D97-AF65-F5344CB8AC3E}">
        <p14:creationId xmlns:p14="http://schemas.microsoft.com/office/powerpoint/2010/main" val="15048820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f4e908-7393-4a6d-b59d-c6eff63635c0">
      <Terms xmlns="http://schemas.microsoft.com/office/infopath/2007/PartnerControls"/>
    </lcf76f155ced4ddcb4097134ff3c332f>
    <TaxCatchAll xmlns="8dee1862-fcf5-49dd-a9fc-1b2a7a905b1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2A9681E197E04382486F556DFA3C96" ma:contentTypeVersion="12" ma:contentTypeDescription="Crée un document." ma:contentTypeScope="" ma:versionID="fc9ac8254c6fceecc8cedb5221ef1a58">
  <xsd:schema xmlns:xsd="http://www.w3.org/2001/XMLSchema" xmlns:xs="http://www.w3.org/2001/XMLSchema" xmlns:p="http://schemas.microsoft.com/office/2006/metadata/properties" xmlns:ns2="55f4e908-7393-4a6d-b59d-c6eff63635c0" xmlns:ns3="8dee1862-fcf5-49dd-a9fc-1b2a7a905b14" targetNamespace="http://schemas.microsoft.com/office/2006/metadata/properties" ma:root="true" ma:fieldsID="cd671137c3af0ea2a295d80177378a0a" ns2:_="" ns3:_="">
    <xsd:import namespace="55f4e908-7393-4a6d-b59d-c6eff63635c0"/>
    <xsd:import namespace="8dee1862-fcf5-49dd-a9fc-1b2a7a905b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f4e908-7393-4a6d-b59d-c6eff63635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5afa4c99-ed9e-40b5-a99b-ba0b0f9944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ee1862-fcf5-49dd-a9fc-1b2a7a905b1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64f2b64-f45c-4d43-b3f2-519ab28f32a7}" ma:internalName="TaxCatchAll" ma:showField="CatchAllData" ma:web="8dee1862-fcf5-49dd-a9fc-1b2a7a905b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1DCD03-E36B-47B1-9A10-ECDA98B16936}">
  <ds:schemaRefs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c6ece739-de56-41dd-a3df-65fda7db5564"/>
    <ds:schemaRef ds:uri="http://schemas.microsoft.com/office/2006/documentManagement/types"/>
    <ds:schemaRef ds:uri="http://purl.org/dc/dcmitype/"/>
    <ds:schemaRef ds:uri="1396ad43-2301-43df-95b5-810558dd37ac"/>
    <ds:schemaRef ds:uri="http://www.w3.org/XML/1998/namespace"/>
    <ds:schemaRef ds:uri="http://purl.org/dc/terms/"/>
    <ds:schemaRef ds:uri="55f4e908-7393-4a6d-b59d-c6eff63635c0"/>
    <ds:schemaRef ds:uri="8dee1862-fcf5-49dd-a9fc-1b2a7a905b14"/>
  </ds:schemaRefs>
</ds:datastoreItem>
</file>

<file path=customXml/itemProps2.xml><?xml version="1.0" encoding="utf-8"?>
<ds:datastoreItem xmlns:ds="http://schemas.openxmlformats.org/officeDocument/2006/customXml" ds:itemID="{2D4A85D8-C0F8-4A00-855A-1BC9717DF9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2ED195-648A-4CC9-B1EF-972F21D0F7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f4e908-7393-4a6d-b59d-c6eff63635c0"/>
    <ds:schemaRef ds:uri="8dee1862-fcf5-49dd-a9fc-1b2a7a905b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9993</TotalTime>
  <Words>275</Words>
  <Application>Microsoft Office PowerPoint</Application>
  <PresentationFormat>Grand écran</PresentationFormat>
  <Paragraphs>110</Paragraphs>
  <Slides>17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Plus Jakarta Sans</vt:lpstr>
      <vt:lpstr>Protest Strike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Environmental Risks</vt:lpstr>
      <vt:lpstr>Présentation PowerPoint</vt:lpstr>
      <vt:lpstr>Présentation PowerPoint</vt:lpstr>
      <vt:lpstr>Présentation PowerPoint</vt:lpstr>
      <vt:lpstr>Présentation PowerPoint</vt:lpstr>
      <vt:lpstr>Local urban development  analysis (PLU)</vt:lpstr>
      <vt:lpstr>Présentation PowerPoint</vt:lpstr>
      <vt:lpstr>Présentation PowerPoint</vt:lpstr>
      <vt:lpstr>Présentation PowerPoint</vt:lpstr>
      <vt:lpstr>Macro Sizing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Okan Turedi</dc:creator>
  <cp:lastModifiedBy>Okan Turedi</cp:lastModifiedBy>
  <cp:revision>8</cp:revision>
  <dcterms:created xsi:type="dcterms:W3CDTF">2024-11-29T14:31:10Z</dcterms:created>
  <dcterms:modified xsi:type="dcterms:W3CDTF">2026-05-29T22:04:51Z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0x0101001D2A9681E197E04382486F556DFA3C96</vt:lpwstr>
  </property>
  <property fmtid="{D5CDD505-2E9C-101B-9397-08002B2CF9AE}" pid="3" name="MediaServiceImageTags">
    <vt:lpwstr/>
  </property>
</Properties>
</file>