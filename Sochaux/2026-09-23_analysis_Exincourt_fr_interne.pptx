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98" r:id="rId5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5"/>
    <p:sldId id="274" r:id="rId26"/>
    <p:sldId id="276" r:id="rId28"/>
    <p:sldId id="278" r:id="rId30"/>
    <p:sldId id="285" r:id="rId37"/>
    <p:sldId id="292" r:id="rId44"/>
    <p:sldId id="293" r:id="rId45"/>
    <p:sldId id="294" r:id="rId46"/>
    <p:sldId id="295" r:id="rId47"/>
    <p:sldId id="275" r:id="rId27"/>
    <p:sldId id="297" r:id="rId49"/>
    <p:sldId id="270" r:id="rId21"/>
    <p:sldId id="296" r:id="rId48"/>
    <p:sldId id="277" r:id="rId29"/>
    <p:sldId id="279" r:id="rId31"/>
    <p:sldId id="280" r:id="rId32"/>
    <p:sldId id="281" r:id="rId33"/>
    <p:sldId id="282" r:id="rId34"/>
    <p:sldId id="283" r:id="rId35"/>
    <p:sldId id="284" r:id="rId36"/>
    <p:sldId id="286" r:id="rId38"/>
    <p:sldId id="287" r:id="rId39"/>
    <p:sldId id="288" r:id="rId40"/>
    <p:sldId id="289" r:id="rId41"/>
    <p:sldId id="290" r:id="rId42"/>
    <p:sldId id="291" r:id="rId4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29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7.xml"/><Relationship Id="rId28" Type="http://schemas.openxmlformats.org/officeDocument/2006/relationships/slide" Target="slides/slide20.xml"/><Relationship Id="rId29" Type="http://schemas.openxmlformats.org/officeDocument/2006/relationships/slide" Target="slides/slide31.xml"/><Relationship Id="rId30" Type="http://schemas.openxmlformats.org/officeDocument/2006/relationships/slide" Target="slides/slide2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22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30.xml"/><Relationship Id="rId49" Type="http://schemas.openxmlformats.org/officeDocument/2006/relationships/slide" Target="slides/slide28.xml"/><Relationship Id="rId5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META_AERO_DATA</a:t>
            </a:r>
          </a:p>
          <a:p>
            <a:r>
              <a:t>AERO_PYTHON_STATUS=HORS_GPU</a:t>
            </a:r>
          </a:p>
          <a:p>
            <a:r>
              <a:t>AERO_PYTHON_JUSTIFICATION=aucune SUP aéronautique au point d'après l'API GPU (/assiette-sup-s a renvoyé 1 SUP non aéro, commune INSEE 25230 couverte)</a:t>
            </a:r>
          </a:p>
          <a:p>
            <a:r>
              <a:t>AERO_AIRPORT_NAME=Aérodrome de Montbéliard-Courcelles</a:t>
            </a:r>
          </a:p>
          <a:p>
            <a:r>
              <a:t>AERO_AIRPORT_IATA=</a:t>
            </a:r>
          </a:p>
          <a:p>
            <a:r>
              <a:t>AERO_AIRPORT_ICAO=LFSM</a:t>
            </a:r>
          </a:p>
          <a:p>
            <a:r>
              <a:t>AERO_HAS_IATA=0</a:t>
            </a:r>
          </a:p>
          <a:p>
            <a:r>
              <a:t>AERO_AIRPORT_DISTANCE_KM=3.3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META_FCU_DATA</a:t>
            </a:r>
          </a:p>
          <a:p>
            <a:r>
              <a:t>FCU_FOUND=1</a:t>
            </a:r>
          </a:p>
          <a:p>
            <a:r>
              <a:t>FCU_CITY=Réseau de Montbéliard</a:t>
            </a:r>
          </a:p>
          <a:p>
            <a:r>
              <a:t>FCU_DISTANCE_KM=0.901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Risque carrieres — detail</a:t>
            </a:r>
          </a:p>
          <a:p/>
          <a:p>
            <a:r>
              <a:t>Cavites sous 2 km : 4</a:t>
            </a:r>
          </a:p>
          <a:p>
            <a:r>
              <a:t>  4 x naturelle</a:t>
            </a:r>
          </a:p>
          <a:p>
            <a:r>
              <a:t>  Les plus proches :</a:t>
            </a:r>
          </a:p>
          <a:p>
            <a:r>
              <a:t>     1.4 km  naturelle  Grotte du Magasin Leclerc n°1</a:t>
            </a:r>
          </a:p>
          <a:p>
            <a:r>
              <a:t>     1.4 km  naturelle  Grotte du Magasin Leclerc n°2</a:t>
            </a:r>
          </a:p>
          <a:p>
            <a:r>
              <a:t>     1.8 km  naturelle  Grotte de la Peute n°2</a:t>
            </a:r>
          </a:p>
          <a:p>
            <a:r>
              <a:t>     1.8 km  naturelle  Grotte de la Peute n°1</a:t>
            </a:r>
          </a:p>
          <a:p/>
          <a:p>
            <a:r>
              <a:t>Mouvements de terrain averes sous 2 km : 1 dont 0 effondrement(s)</a:t>
            </a:r>
          </a:p>
          <a:p>
            <a:r>
              <a:t>  Fiabilite BDMVT (1 = la plus sure) : niveau 1 : 1</a:t>
            </a:r>
          </a:p>
          <a:p>
            <a:r>
              <a:t>  Chronologie : 1998-01-01</a:t>
            </a:r>
          </a:p>
          <a:p/>
          <a:p>
            <a:r>
              <a:t>Sources : Geoportail de l'urbanisme (servitude PM1), Georisques BDCavites et BDMVT (BRGM).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google.com/maps?q=47.50603768977447,6.827313512851357&amp;t=h&amp;z=6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google.com/maps?q=47.50603768977447,6.827313512851357&amp;t=h&amp;z=6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geoportail.gouv.fr/carte?c=6.827313512851357,47.50603768977447&amp;z=18&amp;l0=GEOGRAPHICALGRIDSYSTEMS.PLANIGNV2::GEOPORTAIL:OGC:WMTS(0.6)&amp;l1=CADASTRALPARCELS.PARCELS::GEOPORTAIL:OGC:WMTS(1)&amp;permalink=yes" TargetMode="External"/><Relationship Id="rId4" Type="http://schemas.openxmlformats.org/officeDocument/2006/relationships/hyperlink" Target="https://app.dvf.etalab.gouv.fr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extendo-datacenter.fr/notre-datacenter/" TargetMode="External"/><Relationship Id="rId4" Type="http://schemas.openxmlformats.org/officeDocument/2006/relationships/hyperlink" Target="https://carte.dcmag.fr/directory/extendo-datacenter/" TargetMode="External"/><Relationship Id="rId5" Type="http://schemas.openxmlformats.org/officeDocument/2006/relationships/hyperlink" Target="https://carte.dcmag.fr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Exincourt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Exincourt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Exincourt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Z_Sochaux.pdf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Sochaux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Sochaux.pdf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glement_PLU_zone_UYb_Sochaux.pdf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openinframap.org/#12/47.50603768977447/6.827313512851357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openinframap.org/" TargetMode="External"/><Relationship Id="rId4" Type="http://schemas.openxmlformats.org/officeDocument/2006/relationships/hyperlink" Target="https://www.openstreetmap.org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geoportail-urbanisme.gouv.fr/map/#tile=1&amp;lon=6.827313512851357&amp;lat=47.50603768977447&amp;zoom=12&amp;lowscale=0:0&amp;municipality=0:0&amp;document=0:0&amp;du,psmv=0:0&amp;zone_secteur,zone_secteur_psmv=0:0&amp;info,info_psmv=0:0&amp;prescription,prescription_psmv=0:0&amp;sup=1:0.8&amp;circulation_aerienne=1:0.8&amp;communication=1:0.5&amp;ressources_equipement=1:0.5" TargetMode="External"/><Relationship Id="rId4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france-chaleur-urbaine.beta.gouv.fr/reseaux" TargetMode="External"/><Relationship Id="rId5" Type="http://schemas.openxmlformats.org/officeDocument/2006/relationships/hyperlink" Target="https://reseaux-chaleur.cerema.fr/espace-documentaire/cout-investissement-reseau-chaleur-quelques-repere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www.georisques.gouv.fr/mes-risques/connaitre-les-risques-pres-de-chez-moi/detail/INOND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ades.eaufrance.fr/Fiche/PtEau?code=04438X0018%2FS#mesures_graphiques" TargetMode="External"/><Relationship Id="rId4" Type="http://schemas.openxmlformats.org/officeDocument/2006/relationships/hyperlink" Target="https://ades.eaufrance.fr/Fiche/PtEau?code=04438X0018%2FS#genera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infoterre.brgm.fr/viewer/MainTileForward.do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www.geoportail-urbanisme.gouv.fr/" TargetMode="External"/><Relationship Id="rId4" Type="http://schemas.openxmlformats.org/officeDocument/2006/relationships/hyperlink" Target="https://www.georisques.gouv.fr/" TargetMode="External"/><Relationship Id="rId5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s://www.openrailwaymap.org/?style=standard&amp;lat=47.50603768977447&amp;lon=6.827313512851357&amp;zoom=14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umap.openstreetmap.fr/fr/map/installation-classees-seveso-haut_369674#12/47.50603768977447/6.827313512851357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eorisques.gouv.fr/risques/installations/donnees/details/0005900275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capareseau.fr/region/27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www.georisques.gouv.fr/mes-risques/connaitre-les-risques-pres-de-chez-moi/detail/REMNAPPE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www.georisques.gouv.fr/mes-risques/connaitre-les-risques-pres-de-chez-moi/detail/SUBMAR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www.georisques.gouv.fr/mes-risques/connaitre-les-risques-pres-de-chez-moi/detail/RUPTBARR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www.georisques.gouv.fr/mes-risques/connaitre-les-risques-pres-de-chez-moi/detail/SEISM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www.georisques.gouv.fr/mes-risques/connaitre-les-risques-pres-de-chez-moi/detail/MVT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www.georisques.gouv.fr/mes-risques/connaitre-les-risques-pres-de-chez-moi/detail/MINES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https://www.georisques.gouv.fr/mes-risques/connaitre-les-risques-pres-de-chez-moi/detail/SEC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www.georisques.gouv.fr/mes-risques/connaitre-les-risques-pres-de-chez-moi/detail/RADON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www.georisques.gouv.fr/mes-risques/connaitre-les-risques-pres-de-chez-moi/detail/FEUFORET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https://www.georisques.gouv.fr/mes-risques/connaitre-les-risques-pres-de-chez-moi/detail/INDUS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www.georisques.gouv.fr/mes-risques/connaitre-les-risques-pres-de-chez-moi/detail/CANA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www.georisques.gouv.fr/mes-risques/connaitre-les-risques-pres-de-chez-moi/detail/NUCLEAIRE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https://www.georisques.gouv.fr/mes-risques/connaitre-les-risques-pres-de-chez-moi/detail/SSP?form-adresse=true&amp;isCadastre=false&amp;city=Exincourt&amp;type=adresse&amp;typeForm=adresse&amp;codeInsee=25230&amp;lon=6.827313512851357&amp;lat=47.50603768977447&amp;go_back=/&amp;propertiesType=street&amp;adresse=Es%20Meser%20et%20Courtes%20Parts%2025400%20Exincourt&amp;longitude=6.827313512851357&amp;latitude=47.50603768977447&amp;commune=Exincou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tacent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154680"/>
          </a:xfrm>
          <a:prstGeom prst="rect">
            <a:avLst/>
          </a:prstGeom>
        </p:spPr>
      </p:pic>
      <p:pic>
        <p:nvPicPr>
          <p:cNvPr id="4" name="Picture 3" descr="logo_co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1668326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154680"/>
            <a:ext cx="9144000" cy="1988819"/>
          </a:xfrm>
          <a:prstGeom prst="rect">
            <a:avLst/>
          </a:prstGeom>
          <a:solidFill>
            <a:srgbClr val="9D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412480" cy="16230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DC Opportunity</a:t>
            </a:r>
          </a:p>
          <a:p>
            <a:pPr>
              <a:defRPr sz="800"/>
            </a:pPr>
          </a:p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Es Meser et Courtes Parts 25400 Exincourt</a:t>
            </a:r>
          </a:p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25400 Exincourt</a:t>
            </a:r>
          </a:p>
          <a:p>
            <a:pPr>
              <a:defRPr sz="1300" b="0">
                <a:solidFill>
                  <a:srgbClr val="FFFFFF"/>
                </a:solidFill>
                <a:latin typeface="Calibri"/>
              </a:defRPr>
            </a:pPr>
            <a:r>
              <a:t>GPS : 47.506038, 6.827314</a:t>
            </a:r>
          </a:p>
          <a:p>
            <a:pPr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Date de production : 23/09/2026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5FE3"/>
                </a:solidFill>
                <a:latin typeface="Calibri"/>
              </a:defRPr>
            </a:pPr>
            <a:r>
              <a:t>Verdict — Synthèse décisionnelle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9264"/>
            <a:ext cx="8412480" cy="420624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56692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 SOUS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969264"/>
            <a:ext cx="263347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score 59</a:t>
            </a:r>
            <a:r>
              <a:rPr sz="1100" b="1">
                <a:solidFill>
                  <a:srgbClr val="FFFFFF"/>
                </a:solidFill>
                <a:latin typeface="Calibri"/>
              </a:rPr>
              <a:t>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5FE3"/>
                </a:solidFill>
                <a:latin typeface="Calibri"/>
              </a:defRPr>
            </a:pPr>
            <a:r>
              <a:t>Décomposition du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02536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Électricité</a:t>
            </a:r>
            <a:r>
              <a:rPr sz="750">
                <a:solidFill>
                  <a:srgbClr val="8A94A0"/>
                </a:solidFill>
                <a:latin typeface="Calibri"/>
              </a:rPr>
              <a:t> 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2807" y="2132838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92807" y="2132838"/>
            <a:ext cx="678484" cy="1234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199" y="2002536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Urbanisme (PLU)</a:t>
            </a:r>
            <a:r>
              <a:rPr sz="750">
                <a:solidFill>
                  <a:srgbClr val="8A94A0"/>
                </a:solidFill>
                <a:latin typeface="Calibri"/>
              </a:rPr>
              <a:t> 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2807" y="2462022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92807" y="2462022"/>
            <a:ext cx="1356969" cy="1234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199" y="2331720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E7D32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60904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Connectivité fibre</a:t>
            </a:r>
            <a:r>
              <a:rPr sz="750">
                <a:solidFill>
                  <a:srgbClr val="8A94A0"/>
                </a:solidFill>
                <a:latin typeface="Calibri"/>
              </a:rPr>
              <a:t>  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92807" y="2791206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92807" y="2791206"/>
            <a:ext cx="1744675" cy="1234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199" y="2660904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E7D32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90088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Risques</a:t>
            </a:r>
            <a:r>
              <a:rPr sz="750">
                <a:solidFill>
                  <a:srgbClr val="8A94A0"/>
                </a:solidFill>
                <a:latin typeface="Calibri"/>
              </a:rPr>
              <a:t>  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92807" y="3120390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92807" y="3120390"/>
            <a:ext cx="969264" cy="123444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199" y="2990088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F9A825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19272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Concurrence</a:t>
            </a:r>
            <a:r>
              <a:rPr sz="750">
                <a:solidFill>
                  <a:srgbClr val="8A94A0"/>
                </a:solidFill>
                <a:latin typeface="Calibri"/>
              </a:rPr>
              <a:t>  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2807" y="3449574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92807" y="3449574"/>
            <a:ext cx="969264" cy="123444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199" y="3319272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F9A825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648456"/>
            <a:ext cx="14813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Calibri"/>
              </a:rPr>
              <a:t>Chaleur fatale</a:t>
            </a:r>
            <a:r>
              <a:rPr sz="750">
                <a:solidFill>
                  <a:srgbClr val="8A94A0"/>
                </a:solidFill>
                <a:latin typeface="Calibri"/>
              </a:rPr>
              <a:t>  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92807" y="3778757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92807" y="3778757"/>
            <a:ext cx="1938528" cy="1234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199" y="3648456"/>
            <a:ext cx="56692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E7D32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31" name="verdict_kpi_need"/>
          <p:cNvSpPr/>
          <p:nvPr/>
        </p:nvSpPr>
        <p:spPr>
          <a:xfrm>
            <a:off x="4800600" y="1700784"/>
            <a:ext cx="1264919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576" tIns="54864" bIns="36576"/>
          <a:lstStyle/>
          <a:p>
            <a:pPr algn="ctr"/>
            <a:r>
              <a:rPr sz="1500" b="1">
                <a:solidFill>
                  <a:srgbClr val="4A5FE3"/>
                </a:solidFill>
                <a:latin typeface="Calibri"/>
              </a:rPr>
              <a:t>757 MW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683"/>
                </a:solidFill>
                <a:latin typeface="Calibri"/>
              </a:rPr>
              <a:t>Besoin estimé</a:t>
            </a:r>
          </a:p>
        </p:txBody>
      </p:sp>
      <p:sp>
        <p:nvSpPr>
          <p:cNvPr id="32" name="verdict_kpi_capacity"/>
          <p:cNvSpPr/>
          <p:nvPr/>
        </p:nvSpPr>
        <p:spPr>
          <a:xfrm>
            <a:off x="6156960" y="1700784"/>
            <a:ext cx="1264919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576" tIns="54864" bIns="36576"/>
          <a:lstStyle/>
          <a:p>
            <a:pPr algn="ctr"/>
            <a:r>
              <a:rPr sz="1500" b="1">
                <a:solidFill>
                  <a:srgbClr val="4A5FE3"/>
                </a:solidFill>
                <a:latin typeface="Calibri"/>
              </a:rPr>
              <a:t>500 MW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683"/>
                </a:solidFill>
                <a:latin typeface="Calibri"/>
              </a:rPr>
              <a:t>Capacité brute</a:t>
            </a:r>
          </a:p>
        </p:txBody>
      </p:sp>
      <p:sp>
        <p:nvSpPr>
          <p:cNvPr id="33" name="verdict_kpi_cost"/>
          <p:cNvSpPr/>
          <p:nvPr/>
        </p:nvSpPr>
        <p:spPr>
          <a:xfrm>
            <a:off x="7513320" y="1700784"/>
            <a:ext cx="1264919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576" tIns="54864" bIns="36576"/>
          <a:lstStyle/>
          <a:p>
            <a:pPr algn="ctr"/>
            <a:r>
              <a:rPr sz="1100" b="1">
                <a:solidFill>
                  <a:srgbClr val="4A5FE3"/>
                </a:solidFill>
                <a:latin typeface="Calibri"/>
              </a:rPr>
              <a:t>9 – 17 M€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683"/>
                </a:solidFill>
                <a:latin typeface="Calibri"/>
              </a:rPr>
              <a:t>Coût d'entrée</a:t>
            </a:r>
          </a:p>
        </p:txBody>
      </p:sp>
      <p:sp>
        <p:nvSpPr>
          <p:cNvPr id="34" name="verdict_points_body"/>
          <p:cNvSpPr txBox="1"/>
          <p:nvPr/>
        </p:nvSpPr>
        <p:spPr>
          <a:xfrm>
            <a:off x="4800600" y="2542032"/>
            <a:ext cx="3977639" cy="2139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100"/>
              </a:spcAft>
              <a:defRPr sz="1050" b="1">
                <a:solidFill>
                  <a:srgbClr val="C0392B"/>
                </a:solidFill>
                <a:latin typeface="Calibri"/>
              </a:defRPr>
            </a:pPr>
            <a:r>
              <a:rPr/>
              <a:t>Points d'attention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C0392B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Besoins en électricité (slide 16) NON COUVERTS par les postes existants : besoin estimé 757.0 MW &gt; capacité brute max…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C0392B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Hauteur PLU comptée à l'égout du toit : les ouvrages techniques de toiture (groupes froids, antennes) sont inclus dan…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C0392B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Inondation : aléa existant (à mon adresse)</a:t>
            </a:r>
          </a:p>
          <a:p>
            <a:pPr algn="just">
              <a:spcBef>
                <a:spcPts val="300"/>
              </a:spcBef>
              <a:spcAft>
                <a:spcPts val="100"/>
              </a:spcAft>
              <a:defRPr sz="1050" b="1">
                <a:solidFill>
                  <a:srgbClr val="2E7D32"/>
                </a:solidFill>
                <a:latin typeface="Calibri"/>
              </a:defRPr>
            </a:pPr>
            <a:r>
              <a:rPr/>
              <a:t>Points favorables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2E7D32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Poste RTE proche : RTE (63 kV) à 0.66 km — capacité brute maximale ~500 MW (somme des postes ≤ 5 km) — insuffisante p…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2E7D32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Backbone fibre proche : tracé fibre carte fibre optique — Arteria (FON SNCF) à 1.4 km</a:t>
            </a:r>
          </a:p>
          <a:p>
            <a:pPr marL="128016" indent="-128016" algn="just">
              <a:spcAft>
                <a:spcPts val="100"/>
              </a:spcAft>
            </a:pPr>
            <a:r>
              <a:rPr sz="850">
                <a:solidFill>
                  <a:srgbClr val="2E7D32"/>
                </a:solidFill>
                <a:latin typeface="Calibri"/>
              </a:rPr>
              <a:t>– </a:t>
            </a:r>
            <a:r>
              <a:rPr sz="850">
                <a:solidFill>
                  <a:srgbClr val="333333"/>
                </a:solidFill>
                <a:latin typeface="Calibri"/>
              </a:rPr>
              <a:t>Servitudes aéronautiques (slide 17) NON IMPACTÉ — Aérodrome de Montbéliard-Courcelles à 3.3 km (hors zone GPU)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91456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808080"/>
                </a:solidFill>
                <a:latin typeface="Calibri"/>
              </a:defRPr>
            </a:pPr>
            <a:r>
              <a:t>Score pondéré déterministe (barèmes éditables dans baremes_couts.json) — à confirmer par PTF RTE, règlement PLU complet et devis opérateurs.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2/28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Localisation — Vue France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25807"/>
            <a:ext cx="5120640" cy="35548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Vue France entière — situation du site dans le pays.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Coordonnées du site : 47.506038, 6.827314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Ville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25400 Exincourt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Grandes villes proches : Belfort (15 km), Mulhouse (47 km), Biel/Bienne (51 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Google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Localisation &amp; Avantages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25807"/>
            <a:ext cx="5120640" cy="35548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</a:rPr>
              <a:t>• Ville  :</a:t>
            </a:r>
            <a:r>
              <a:rPr sz="1200" b="0">
                <a:solidFill>
                  <a:srgbClr val="333333"/>
                </a:solidFill>
              </a:rPr>
              <a:t> 25400 Exincourt</a:t>
            </a:r>
          </a:p>
          <a:p>
            <a:pPr algn="just" marL="123444" indent="-123444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</a:rPr>
              <a:t>• Région  :</a:t>
            </a:r>
            <a:r>
              <a:rPr sz="1200" b="0">
                <a:solidFill>
                  <a:srgbClr val="333333"/>
                </a:solidFill>
              </a:rPr>
              <a:t> Bourgogne-Franche-Comté</a:t>
            </a:r>
          </a:p>
          <a:p>
            <a:pPr algn="just" marL="123444" indent="-123444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</a:rPr>
              <a:t>• Autoroute  :</a:t>
            </a:r>
            <a:r>
              <a:rPr sz="1200" b="0">
                <a:solidFill>
                  <a:srgbClr val="333333"/>
                </a:solidFill>
              </a:rPr>
              <a:t> A36</a:t>
            </a:r>
          </a:p>
          <a:p>
            <a:pPr algn="just" marL="123444" indent="-123444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</a:rPr>
              <a:t>• Route nationale  :</a:t>
            </a:r>
            <a:r>
              <a:rPr sz="1200" b="0">
                <a:solidFill>
                  <a:srgbClr val="333333"/>
                </a:solidFill>
              </a:rPr>
              <a:t> Non identifiée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Google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Spécifications Parcelle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60" y="1097280"/>
            <a:ext cx="5118439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0" indent="0">
              <a:spcBef>
                <a:spcPts val="209"/>
              </a:spcBef>
              <a:spcAft>
                <a:spcPts val="70"/>
              </a:spcAft>
              <a:defRPr>
                <a:latin typeface="Calibri"/>
              </a:defRPr>
            </a:pPr>
            <a:r>
              <a:rPr sz="700" b="1">
                <a:solidFill>
                  <a:srgbClr val="1F6B8E"/>
                </a:solidFill>
                <a:latin typeface="Calibri"/>
              </a:rPr>
              <a:t>▸ </a:t>
            </a:r>
            <a:r>
              <a:rPr sz="700" b="1">
                <a:solidFill>
                  <a:srgbClr val="1F6B8E"/>
                </a:solidFill>
                <a:latin typeface="Calibri"/>
              </a:rPr>
              <a:t>Composition du bien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Bien composé de 10 parcelle(s) — surface totale :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30.28 ha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(302 804 m²)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FF6B00"/>
                </a:solidFill>
                <a:latin typeface="Calibri"/>
              </a:rPr>
              <a:t>⚠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Bien reparti sur 2 communes (INSEE : 25230, 25547). Le PLU (plan local d'urbanisme) de CHAQUE commune est analyse separement (une slide par commune) ; les autres donnees (electricite, risques, fibre) sont centrees sur la plus grande parcelle, commune INSEE 25230.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Détail des parcelles :</a:t>
            </a:r>
          </a:p>
          <a:p>
            <a:pPr algn="just" marL="274320" indent="-150876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–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AD 45 : 10 245 m² (1.02 ha)   |   AD 46 : 127 217 m² (12.72 ha)</a:t>
            </a:r>
          </a:p>
          <a:p>
            <a:pPr algn="just" marL="274320" indent="-150876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–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AE 27 : 9 969 m² (1.00 ha)   |   AE 30 : 4 876 m² (0.49 ha)</a:t>
            </a:r>
          </a:p>
          <a:p>
            <a:pPr algn="just" marL="274320" indent="-150876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–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AE 31 : 8 574 m² (0.86 ha)   |   AH 367 : 112 813 m² (11.28 ha)</a:t>
            </a:r>
          </a:p>
          <a:p>
            <a:pPr algn="just" marL="274320" indent="-150876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–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AH 381 : 525 m² (0.05 ha)   |   AH 382 : 30 m² (0.00 ha)</a:t>
            </a:r>
          </a:p>
          <a:p>
            <a:pPr algn="just" marL="274320" indent="-150876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–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AI 6 : 21 729 m² (2.17 ha)   |   AI 8 : 6 826 m² (0.68 ha)</a:t>
            </a:r>
          </a:p>
          <a:p>
            <a:pPr algn="just" marL="0" indent="0">
              <a:spcBef>
                <a:spcPts val="209"/>
              </a:spcBef>
              <a:spcAft>
                <a:spcPts val="70"/>
              </a:spcAft>
              <a:defRPr>
                <a:latin typeface="Calibri"/>
              </a:defRPr>
            </a:pPr>
            <a:r>
              <a:rPr sz="700" b="1">
                <a:solidFill>
                  <a:srgbClr val="1F6B8E"/>
                </a:solidFill>
                <a:latin typeface="Calibri"/>
              </a:rPr>
              <a:t>▸ </a:t>
            </a:r>
            <a:r>
              <a:rPr sz="700" b="1">
                <a:solidFill>
                  <a:srgbClr val="1F6B8E"/>
                </a:solidFill>
                <a:latin typeface="Calibri"/>
              </a:rPr>
              <a:t>Point de référence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Centroïde parcelle AD 46 — GPS 47.506038, 6.827314</a:t>
            </a:r>
          </a:p>
          <a:p>
            <a:pPr algn="just" marL="0" indent="0">
              <a:spcBef>
                <a:spcPts val="209"/>
              </a:spcBef>
              <a:spcAft>
                <a:spcPts val="70"/>
              </a:spcAft>
              <a:defRPr>
                <a:latin typeface="Calibri"/>
              </a:defRPr>
            </a:pPr>
            <a:r>
              <a:rPr sz="700" b="1">
                <a:solidFill>
                  <a:srgbClr val="1F6B8E"/>
                </a:solidFill>
                <a:latin typeface="Calibri"/>
              </a:rPr>
              <a:t>▸ </a:t>
            </a:r>
            <a:r>
              <a:rPr sz="700" b="1">
                <a:solidFill>
                  <a:srgbClr val="1F6B8E"/>
                </a:solidFill>
                <a:latin typeface="Calibri"/>
              </a:rPr>
              <a:t>Valeur foncière locale (DVF, ventes réelles)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Médiane :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29 €/m²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(1 ventes de terrains, 2023-2023)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Comparables retenus : terrains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≥ 30 280 m²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(10% de la surface du site)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P25-P75 :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29-29 €/m²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(le zonage fait le prix)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Valeur indicative du bien :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8.9 M€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(8.9-8.9)</a:t>
            </a:r>
          </a:p>
          <a:p>
            <a:pPr algn="just" marL="123444" indent="-123444">
              <a:spcAft>
                <a:spcPts val="140"/>
              </a:spcAft>
              <a:defRPr>
                <a:latin typeface="Calibri"/>
              </a:defRPr>
            </a:pPr>
            <a:r>
              <a:rPr sz="630" b="1">
                <a:solidFill>
                  <a:srgbClr val="1F6B8E"/>
                </a:solidFill>
                <a:latin typeface="Calibri"/>
              </a:rPr>
              <a:t>• 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Dernier comparable : 2023-11-09,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142991 m²</a:t>
            </a:r>
            <a:r>
              <a:rPr sz="630" i="0" b="0">
                <a:solidFill>
                  <a:srgbClr val="333333"/>
                </a:solidFill>
                <a:latin typeface="Calibri"/>
              </a:rPr>
              <a:t> à </a:t>
            </a:r>
            <a:r>
              <a:rPr sz="630" i="0" b="1">
                <a:solidFill>
                  <a:srgbClr val="1E3A5F"/>
                </a:solidFill>
                <a:latin typeface="Calibri"/>
              </a:rPr>
              <a:t>29.4 €/m²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Géoportail</a:t>
            </a:r>
            <a:r>
              <a:rPr sz="800">
                <a:solidFill>
                  <a:srgbClr val="999999"/>
                </a:solidFill>
              </a:rPr>
              <a:t>   |   </a:t>
            </a:r>
            <a:r>
              <a:rPr sz="900" u="sng">
                <a:solidFill>
                  <a:srgbClr val="4A5FE3"/>
                </a:solidFill>
                <a:hlinkClick r:id="rId4"/>
              </a:rPr>
              <a:t>Source : app.dvf.etalab.gouv.fr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Concurrence locale (rayon 50 km)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1F6B8E"/>
                </a:solidFill>
                <a:latin typeface="Calibri"/>
              </a:rPr>
              <a:t>1 concurrent(s) dans 50 km — 1 en service · 0 en projet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25603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3931920"/>
            <a:ext cx="256032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● </a:t>
            </a:r>
            <a:r>
              <a:rPr sz="800">
                <a:solidFill>
                  <a:srgbClr val="333333"/>
                </a:solidFill>
                <a:latin typeface="Calibri"/>
              </a:rPr>
              <a:t>Site analysé</a:t>
            </a:r>
          </a:p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● </a:t>
            </a:r>
            <a:r>
              <a:rPr sz="800">
                <a:solidFill>
                  <a:srgbClr val="333333"/>
                </a:solidFill>
                <a:latin typeface="Calibri"/>
              </a:rPr>
              <a:t>Concurrent (cercle = 50 km)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91440" cy="128016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7607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D8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95628"/>
            <a:ext cx="4471416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Extendo Datacenter</a:t>
            </a:r>
            <a:r>
              <a:rPr sz="900"/>
              <a:t>   </a:t>
            </a:r>
            <a:r>
              <a:rPr sz="800" b="1">
                <a:solidFill>
                  <a:srgbClr val="00A65A"/>
                </a:solidFill>
                <a:latin typeface="Calibri"/>
              </a:rPr>
              <a:t> EXISTANT </a:t>
            </a:r>
            <a:r>
              <a:rPr sz="800"/>
              <a:t>   </a:t>
            </a:r>
            <a:r>
              <a:rPr sz="800" b="0" i="1" u="sng">
                <a:solidFill>
                  <a:srgbClr val="4A5FE3"/>
                </a:solidFill>
                <a:latin typeface="Calibri"/>
                <a:hlinkClick r:id="rId3"/>
              </a:rPr>
              <a:t>↗ Lien site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595628"/>
            <a:ext cx="914400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500" b="1">
                <a:solidFill>
                  <a:srgbClr val="4A5FE3"/>
                </a:solidFill>
                <a:latin typeface="Calibri"/>
              </a:rPr>
              <a:t>15.4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42515"/>
            <a:ext cx="4288536" cy="16459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90 - Territoire-de-Belfort · Bourgogne-Franche-Comté · 47.64452, 6.84332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842515"/>
            <a:ext cx="1097280" cy="16459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 u="sng" i="1">
                <a:solidFill>
                  <a:srgbClr val="4A5FE3"/>
                </a:solidFill>
                <a:latin typeface="Calibri"/>
                <a:hlinkClick r:id="rId4"/>
              </a:rPr>
              <a:t>fiche dcmag 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89987"/>
            <a:ext cx="1764792" cy="11887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>
                <a:solidFill>
                  <a:srgbClr val="1F6B8E"/>
                </a:solidFill>
                <a:latin typeface="Calibri"/>
              </a:rPr>
              <a:t>📐 </a:t>
            </a:r>
            <a:r>
              <a:rPr sz="800">
                <a:solidFill>
                  <a:srgbClr val="888888"/>
                </a:solidFill>
                <a:latin typeface="Calibri"/>
              </a:rPr>
              <a:t>Surface IT : </a:t>
            </a:r>
            <a:r>
              <a:rPr sz="800" b="1">
                <a:solidFill>
                  <a:srgbClr val="333333"/>
                </a:solidFill>
                <a:latin typeface="Calibri"/>
              </a:rPr>
              <a:t>1700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888888"/>
                </a:solidFill>
                <a:latin typeface="Calibri"/>
              </a:rPr>
              <a:t>Source : dcmag.fr — MAJ 2026-09-21</a:t>
            </a:r>
            <a:r>
              <a:rPr sz="800" i="1" u="sng">
                <a:solidFill>
                  <a:srgbClr val="4A5FE3"/>
                </a:solidFill>
                <a:latin typeface="Calibri"/>
                <a:hlinkClick r:id="rId5"/>
              </a:rPr>
              <a:t>  ·  carte.dcmag.fr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6/28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(Exincourt)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Exincourt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• </a:t>
            </a:r>
            <a:r>
              <a:rPr sz="800" b="1" i="0">
                <a:solidFill>
                  <a:srgbClr val="333333"/>
                </a:solidFill>
              </a:rPr>
              <a:t xml:space="preserve">Emprise</a:t>
            </a:r>
            <a:r>
              <a:rPr sz="800" b="0" i="0">
                <a:solidFill>
                  <a:srgbClr val="333333"/>
                </a:solidFill>
              </a:rPr>
              <a:t xml:space="preserve"> concernée sur cette commune : 5 parcelle(s), 16.09 ha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ZONE IDENTIFIÉE (SOURCE : API IGN GPU)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Zone : UYb — Zone urbanisée destinée à accueillir à titre principal des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 : secteur où les règles d'urbanisme sont adaptées au contexte et aux usages spécifiques (Zone urbaine)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Type d'usage : zone urbaine — souvent compatible avec activité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Servitudes : aucune prescription surfacique au point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ANALYSE DÉTAILLÉE DU RÈGLEMENT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Zone : Zone UYb destinée à accueillir à titre principal des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 (site de production PSA au nord de l'autoroute A36).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1. IMPLANTATION / RECUL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Par rapport aux voies publiques : 5 mètres minimum (Article UY/UX 6 [PAGE 54])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"Les constructions doivent être implantées en retrait de la limite de référence avec un recul minimum de 5 mètres."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Par rapport aux limites séparatives : H/2 avec un minimum de 5 mètres (Article UY/UX 7 [PAGE 54])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"Les constructions doivent être implantées en retrait qui doit être égal à H/2 avec un minimum de 5 mètres."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2. HAUTEUR MAXIMALE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E3A5F"/>
                </a:solidFill>
              </a:rPr>
              <a:t xml:space="preserve">40 mètres (Article UY/UX 10 [PAGE 55])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"La </a:t>
            </a:r>
            <a:r>
              <a:rPr sz="700" b="1" i="1">
                <a:solidFill>
                  <a:srgbClr val="666666"/>
                </a:solidFill>
              </a:rPr>
              <a:t xml:space="preserve">hauteur</a:t>
            </a:r>
            <a:r>
              <a:rPr sz="700" b="0" i="1">
                <a:solidFill>
                  <a:srgbClr val="666666"/>
                </a:solidFill>
              </a:rPr>
              <a:t xml:space="preserve"> des constructions est limitée à 10 mètres à l’égout du toit. [...] Dans le secteur UYb Cette </a:t>
            </a:r>
            <a:r>
              <a:rPr sz="700" b="1" i="1">
                <a:solidFill>
                  <a:srgbClr val="666666"/>
                </a:solidFill>
              </a:rPr>
              <a:t xml:space="preserve">hauteur</a:t>
            </a:r>
            <a:r>
              <a:rPr sz="700" b="0" i="1">
                <a:solidFill>
                  <a:srgbClr val="666666"/>
                </a:solidFill>
              </a:rPr>
              <a:t xml:space="preserve"> maximale est portée à 40 mètres."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Reglement_PLU_zone_UYb_Exincourt.pdf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7/28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(Exincourt)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Exincourt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Point de mesure de la </a:t>
            </a: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: à l'égout du toit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Ouvrages techniques de toiture (antennes, groupes froids) : comptés dans la </a:t>
            </a: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— aucun dépassement possible</a:t>
            </a:r>
          </a:p>
          <a:p>
            <a:pPr algn="just">
              <a:spcAft>
                <a:spcPts val="180"/>
              </a:spcAft>
              <a:defRPr/>
            </a:pP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retenue pour le bâti : 35 m (40 m moins 5 m de réserve superstructures)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3. EMPRISE AU SOL (CES / COS)</a:t>
            </a:r>
          </a:p>
          <a:p>
            <a:pPr algn="just">
              <a:spcBef>
                <a:spcPts val="0"/>
              </a:spcBef>
              <a:spcAft>
                <a:spcPts val="270"/>
              </a:spcAft>
              <a:defRPr/>
            </a:pPr>
            <a:r>
              <a:rPr sz="810" b="1" i="0">
                <a:solidFill>
                  <a:srgbClr val="1E3A5F"/>
                </a:solidFill>
              </a:rPr>
              <a:t xml:space="preserve">Aucune règle fixée — projet libre sur ce point (Article UY/UX 9 [PAGE 55])</a:t>
            </a:r>
          </a:p>
          <a:p>
            <a:pPr algn="just">
              <a:spcAft>
                <a:spcPts val="180"/>
              </a:spcAft>
              <a:defRPr/>
            </a:pPr>
            <a:r>
              <a:rPr sz="630" b="0" i="1">
                <a:solidFill>
                  <a:srgbClr val="666666"/>
                </a:solidFill>
              </a:rPr>
              <a:t xml:space="preserve">    Citation : "Le coefficient d’</a:t>
            </a:r>
            <a:r>
              <a:rPr sz="630" b="1" i="1">
                <a:solidFill>
                  <a:srgbClr val="666666"/>
                </a:solidFill>
              </a:rPr>
              <a:t xml:space="preserve">emprise au sol</a:t>
            </a:r>
            <a:r>
              <a:rPr sz="630" b="0" i="1">
                <a:solidFill>
                  <a:srgbClr val="666666"/>
                </a:solidFill>
              </a:rPr>
              <a:t xml:space="preserve"> est limité à 60%, sauf dans le secteur UYb, où il n’est pas règlementé."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4. ESPACES VERTS OBLIGATOIRES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5. STATIONNEMENT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Le permis de construire peut être subordonné à la réalisation d'installations propres à assurer le stationnement hors des voies publiques des véhicules correspondant aux besoins de l'immeuble à construire. (Article UY/UX 3 [PAGE 52])</a:t>
            </a:r>
          </a:p>
          <a:p>
            <a:pPr algn="just">
              <a:spcAft>
                <a:spcPts val="180"/>
              </a:spcAft>
              <a:defRPr/>
            </a:pPr>
            <a:r>
              <a:rPr sz="630" b="0" i="1">
                <a:solidFill>
                  <a:srgbClr val="666666"/>
                </a:solidFill>
              </a:rPr>
              <a:t xml:space="preserve">    Citation : "La délivrance du permis de construire peut être subordonnée : a) à la réalisation d'installations propres à assurer le stationnement hors des voies publiques des véhicules correspondant aux besoins de l'immeuble à construire"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6. CONSTRUCTIONS AUTORISÉES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7. CONSTRUCTIONS INTERDITES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8. CONDITIONS SPÉCIALES / AUTRES RÈGLES APPLICABLES AU PROJET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Respect des dispositions liées aux risques miniers (indice m ou rm) et aux installations classées (ICPE). (Article UY/UX 2 [PAGE 52])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Reglement_PLU_zone_UYb_Exincourt.pdf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8/28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(Exincourt)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Exincourt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9. CONCLUSION FAISABILITÉ DU PROJET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Statut global : OUI PROBABLE</a:t>
            </a:r>
          </a:p>
          <a:p>
            <a:pPr algn="just">
              <a:spcAft>
                <a:spcPts val="200"/>
              </a:spcAft>
            </a:pPr>
            <a:r>
              <a:rPr sz="800" b="1" i="0">
                <a:solidFill>
                  <a:srgbClr val="333333"/>
                </a:solidFill>
              </a:rPr>
              <a:t xml:space="preserve">Entrepôt</a:t>
            </a:r>
            <a:r>
              <a:rPr sz="800" b="0" i="0">
                <a:solidFill>
                  <a:srgbClr val="333333"/>
                </a:solidFill>
              </a:rPr>
              <a:t xml:space="preserve"> /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 : N/A — à vérifier manuellement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La zone UYb est destinée aux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. Un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, en tant qu'activité </a:t>
            </a:r>
            <a:r>
              <a:rPr sz="800" b="1" i="0">
                <a:solidFill>
                  <a:srgbClr val="333333"/>
                </a:solidFill>
              </a:rPr>
              <a:t xml:space="preserve">industrielle</a:t>
            </a:r>
            <a:r>
              <a:rPr sz="800" b="0" i="0">
                <a:solidFill>
                  <a:srgbClr val="333333"/>
                </a:solidFill>
              </a:rPr>
              <a:t xml:space="preserve"> (process technique), est compatible avec la vocation de la zone.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10. CLASSIFICATION DATACENTER — QUEL RÈGLEMENT S'APPLIQUE ?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Sous-destination recommandée : 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Justification : Le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 nécessite des infrastructures de refroidissement et une puissance électrique </a:t>
            </a:r>
            <a:r>
              <a:rPr sz="800" b="1" i="0">
                <a:solidFill>
                  <a:srgbClr val="333333"/>
                </a:solidFill>
              </a:rPr>
              <a:t xml:space="preserve">industrielle</a:t>
            </a:r>
            <a:r>
              <a:rPr sz="800" b="0" i="0">
                <a:solidFill>
                  <a:srgbClr val="333333"/>
                </a:solidFill>
              </a:rPr>
              <a:t xml:space="preserve">, ce qui correspond à la vocation </a:t>
            </a:r>
            <a:r>
              <a:rPr sz="800" b="1" i="0">
                <a:solidFill>
                  <a:srgbClr val="333333"/>
                </a:solidFill>
              </a:rPr>
              <a:t xml:space="preserve">industrielle</a:t>
            </a:r>
            <a:r>
              <a:rPr sz="800" b="0" i="0">
                <a:solidFill>
                  <a:srgbClr val="333333"/>
                </a:solidFill>
              </a:rPr>
              <a:t xml:space="preserve"> de la zone UYb.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  <a:r>
              <a:rPr sz="800" b="0" i="0">
                <a:solidFill>
                  <a:srgbClr val="333333"/>
                </a:solidFill>
              </a:rPr>
              <a:t xml:space="preserve"> : OUI (Article UY/UX 1 et 2)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</a:t>
            </a:r>
            <a:r>
              <a:rPr sz="800" b="1" i="0">
                <a:solidFill>
                  <a:srgbClr val="333333"/>
                </a:solidFill>
              </a:rPr>
              <a:t xml:space="preserve">Entrepôt</a:t>
            </a:r>
            <a:r>
              <a:rPr sz="800" b="0" i="0">
                <a:solidFill>
                  <a:srgbClr val="333333"/>
                </a:solidFill>
              </a:rPr>
              <a:t xml:space="preserve"> : OUI (Article UY/UX 1 et 2)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Équipement d'intérêt collectif : N/A — à vérifier manuellement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➜ Recommandation : Classer le projet en '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  <a:r>
              <a:rPr sz="800" b="0" i="0">
                <a:solidFill>
                  <a:srgbClr val="333333"/>
                </a:solidFill>
              </a:rPr>
              <a:t xml:space="preserve">' pour correspondre à la vocation principale de la zone UYb. Vérifier la présence d'indices de risques miniers (m ou rm) sur la parcelle spécifique pour anticiper les contraintes constructives.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Reglement_PLU_zone_UYb_Exincourt.pdf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9/28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UZ (Sochaux)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Sochaux (zone UZ)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• </a:t>
            </a:r>
            <a:r>
              <a:rPr sz="800" b="1" i="0">
                <a:solidFill>
                  <a:srgbClr val="333333"/>
                </a:solidFill>
              </a:rPr>
              <a:t xml:space="preserve">Emprise</a:t>
            </a:r>
            <a:r>
              <a:rPr sz="800" b="0" i="0">
                <a:solidFill>
                  <a:srgbClr val="333333"/>
                </a:solidFill>
              </a:rPr>
              <a:t xml:space="preserve"> concernée sur cette commune : 4 parcelle(s), 14.19 ha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ZONE IDENTIFIÉE (SOURCE : API IGN GPU)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Zone : UZ — UZ : Zone d'activités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 (Zone urbaine)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Type d'usage : zone urbaine — souvent compatible avec activité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Servitudes au point : </a:t>
            </a:r>
            <a:r>
              <a:rPr sz="800" b="1" i="0">
                <a:solidFill>
                  <a:srgbClr val="333333"/>
                </a:solidFill>
              </a:rPr>
              <a:t xml:space="preserve">Hauteur</a:t>
            </a:r>
            <a:r>
              <a:rPr sz="800" b="0" i="0">
                <a:solidFill>
                  <a:srgbClr val="333333"/>
                </a:solidFill>
              </a:rPr>
              <a:t xml:space="preserve"> maximale de 25 m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ANALYSE DÉTAILLÉE DU RÈGLEMENT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{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"zone_description": "La zone UZ est destinée aux activités à dominante </a:t>
            </a:r>
            <a:r>
              <a:rPr sz="800" b="1" i="0">
                <a:solidFill>
                  <a:srgbClr val="333333"/>
                </a:solidFill>
              </a:rPr>
              <a:t xml:space="preserve">industrielle</a:t>
            </a:r>
            <a:r>
              <a:rPr sz="800" b="0" i="0">
                <a:solidFill>
                  <a:srgbClr val="333333"/>
                </a:solidFill>
              </a:rPr>
              <a:t xml:space="preserve">, concernée par la présence d’installations classées pour la protection de l’environnement (ICPE) notamment soumises à autorisation.",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"implantation": {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"voies_publiques": {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"valeur": "5 mètres minimum de l'alignement de toutes les voies publiques. Exceptions pour équipements/installations de services publics ou d'intérêt collectif, extensions et surélévations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Reglement_PLU_zone_UZ_Sochaux.pdf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10/28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(Sochaux)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Sochaux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• </a:t>
            </a:r>
            <a:r>
              <a:rPr sz="800" b="1" i="0">
                <a:solidFill>
                  <a:srgbClr val="333333"/>
                </a:solidFill>
              </a:rPr>
              <a:t xml:space="preserve">Emprise</a:t>
            </a:r>
            <a:r>
              <a:rPr sz="800" b="0" i="0">
                <a:solidFill>
                  <a:srgbClr val="333333"/>
                </a:solidFill>
              </a:rPr>
              <a:t xml:space="preserve"> concernée sur cette commune : 1 parcelle(s), 0.00 ha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ZONE IDENTIFIÉE (SOURCE : API IGN GPU)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Zone : UYb — Zone urbanisée destinée à accueillir à titre principal des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 : secteur où les règles d'urbanisme sont adaptées au contexte et aux usages spécifiques (Zone urbaine)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Type d'usage : zone urbaine — souvent compatible avec activité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Servitudes : aucune prescription surfacique au point</a:t>
            </a:r>
          </a:p>
          <a:p>
            <a:pPr algn="just">
              <a:spcBef>
                <a:spcPts val="400"/>
              </a:spcBef>
              <a:spcAft>
                <a:spcPts val="300"/>
              </a:spcAft>
              <a:defRPr sz="1000" b="1">
                <a:solidFill>
                  <a:srgbClr val="1F6B8E"/>
                </a:solidFill>
              </a:defRPr>
            </a:pPr>
            <a:r>
              <a:rPr/>
              <a:t>ANALYSE DÉTAILLÉE DU RÈGLEMENT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Zone : Zone UYb : site de production de PSA au nord de l'autoroute A36, destinée à accueillir à titre principal des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1. IMPLANTATION / RECUL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Par rapport aux voies publiques : 5 mètres minimum, 40 mètres de l'axe de l'autoroute A36, 15 mètres de la RD 437 et de l'axe de la rue des Bouquières (Article UY/UX 6 [PAGE 54])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"Les constructions doivent être implantées en retrait de la limite de référence avec un recul minimum de 5 mètres. Ce recul est porté à : 40 mètres de l’axe de l’autoroute A36, 15 mètres de la RD 437 et de l’axe de la rue des Bouquières."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Par rapport aux limites séparatives : H/2 avec un minimum de 5 mètres (Article UY/UX 7 [PAGE 54])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"Les constructions doivent être implantées en retrait qui doit être égal à H/2 avec un minimum de 5 mètres."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2. HAUTEUR MAXIMALE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E3A5F"/>
                </a:solidFill>
              </a:rPr>
              <a:t xml:space="preserve">40 mètres (Article UY/UX 10 [PAGE 55])</a:t>
            </a:r>
          </a:p>
          <a:p>
            <a:pPr algn="just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</a:rPr>
              <a:t xml:space="preserve">    Citation : "La </a:t>
            </a:r>
            <a:r>
              <a:rPr sz="700" b="1" i="1">
                <a:solidFill>
                  <a:srgbClr val="666666"/>
                </a:solidFill>
              </a:rPr>
              <a:t xml:space="preserve">hauteur</a:t>
            </a:r>
            <a:r>
              <a:rPr sz="700" b="0" i="1">
                <a:solidFill>
                  <a:srgbClr val="666666"/>
                </a:solidFill>
              </a:rPr>
              <a:t xml:space="preserve"> des constructions est limitée à 10 mètres à l’égout du toit. [...] Dans le secteur UYb, cette </a:t>
            </a:r>
            <a:r>
              <a:rPr sz="700" b="1" i="1">
                <a:solidFill>
                  <a:srgbClr val="666666"/>
                </a:solidFill>
              </a:rPr>
              <a:t xml:space="preserve">hauteur</a:t>
            </a:r>
            <a:r>
              <a:rPr sz="700" b="0" i="1">
                <a:solidFill>
                  <a:srgbClr val="666666"/>
                </a:solidFill>
              </a:rPr>
              <a:t xml:space="preserve"> maximale est portée à 40 mètres."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Reglement_PLU_zone_UYb_Sochaux.pdf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11/28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(Sochaux)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Sochaux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Point de mesure de la </a:t>
            </a: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: à l'égout du toit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Ouvrages techniques de toiture (antennes, groupes froids) : comptés dans la </a:t>
            </a: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— aucun dépassement possible</a:t>
            </a:r>
          </a:p>
          <a:p>
            <a:pPr algn="just">
              <a:spcAft>
                <a:spcPts val="180"/>
              </a:spcAft>
              <a:defRPr/>
            </a:pPr>
            <a:r>
              <a:rPr sz="720" b="1" i="0">
                <a:solidFill>
                  <a:srgbClr val="333333"/>
                </a:solidFill>
              </a:rPr>
              <a:t xml:space="preserve">Hauteur</a:t>
            </a:r>
            <a:r>
              <a:rPr sz="720" b="0" i="0">
                <a:solidFill>
                  <a:srgbClr val="333333"/>
                </a:solidFill>
              </a:rPr>
              <a:t xml:space="preserve"> retenue pour le bâti : 35 m (40 m moins 5 m de réserve superstructures)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3. EMPRISE AU SOL (CES / COS)</a:t>
            </a:r>
          </a:p>
          <a:p>
            <a:pPr algn="just">
              <a:spcBef>
                <a:spcPts val="0"/>
              </a:spcBef>
              <a:spcAft>
                <a:spcPts val="270"/>
              </a:spcAft>
              <a:defRPr/>
            </a:pPr>
            <a:r>
              <a:rPr sz="810" b="1" i="0">
                <a:solidFill>
                  <a:srgbClr val="1E3A5F"/>
                </a:solidFill>
              </a:rPr>
              <a:t xml:space="preserve">Aucune règle fixée — projet libre sur ce point (Article UY/UX 9 [PAGE 55])</a:t>
            </a:r>
          </a:p>
          <a:p>
            <a:pPr algn="just">
              <a:spcAft>
                <a:spcPts val="180"/>
              </a:spcAft>
              <a:defRPr/>
            </a:pPr>
            <a:r>
              <a:rPr sz="630" b="0" i="1">
                <a:solidFill>
                  <a:srgbClr val="666666"/>
                </a:solidFill>
              </a:rPr>
              <a:t xml:space="preserve">    Citation : "Le coefficient d’</a:t>
            </a:r>
            <a:r>
              <a:rPr sz="630" b="1" i="1">
                <a:solidFill>
                  <a:srgbClr val="666666"/>
                </a:solidFill>
              </a:rPr>
              <a:t xml:space="preserve">emprise au sol</a:t>
            </a:r>
            <a:r>
              <a:rPr sz="630" b="0" i="1">
                <a:solidFill>
                  <a:srgbClr val="666666"/>
                </a:solidFill>
              </a:rPr>
              <a:t xml:space="preserve"> est limité à 60%, sauf dans le secteur UYb, où il n’est pas règlementé."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4. ESPACES VERTS OBLIGATOIRES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5. STATIONNEMENT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La délivrance du permis de construire peut être subordonnée à la réalisation d'installations propres à assurer le stationnement hors des voies publiques des véhicules correspondant aux besoins de l'immeuble à construire. (Article UY/UX 3 [PAGE 52])</a:t>
            </a:r>
          </a:p>
          <a:p>
            <a:pPr algn="just">
              <a:spcAft>
                <a:spcPts val="180"/>
              </a:spcAft>
              <a:defRPr/>
            </a:pPr>
            <a:r>
              <a:rPr sz="630" b="0" i="1">
                <a:solidFill>
                  <a:srgbClr val="666666"/>
                </a:solidFill>
              </a:rPr>
              <a:t xml:space="preserve">    Citation : "La délivrance du permis de construire peut être subordonnée : a) à la réalisation d'installations propres à assurer le stationnement hors des voies publiques des véhicules correspondant aux besoins de l'immeuble à construire"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6. CONSTRUCTIONS AUTORISÉES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7. CONSTRUCTIONS INTERDITES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Non mentionné dans les extraits fournis</a:t>
            </a:r>
          </a:p>
          <a:p>
            <a:pPr algn="just">
              <a:spcBef>
                <a:spcPts val="270"/>
              </a:spcBef>
              <a:spcAft>
                <a:spcPts val="180"/>
              </a:spcAft>
              <a:defRPr sz="900" b="1">
                <a:solidFill>
                  <a:srgbClr val="1F6B8E"/>
                </a:solidFill>
              </a:defRPr>
            </a:pPr>
            <a:r>
              <a:rPr sz="810"/>
              <a:t>8. CONDITIONS SPÉCIALES / AUTRES RÈGLES APPLICABLES AU PROJET</a:t>
            </a:r>
          </a:p>
          <a:p>
            <a:pPr algn="just">
              <a:spcAft>
                <a:spcPts val="180"/>
              </a:spcAft>
              <a:defRPr/>
            </a:pPr>
            <a:r>
              <a:rPr sz="720" b="0" i="0">
                <a:solidFill>
                  <a:srgbClr val="333333"/>
                </a:solidFill>
              </a:rPr>
              <a:t xml:space="preserve">Respect des dispositions de l'article R 111-2 du code de l'urbanisme pour les installations classées (ICPE). (Article UY/UX 2 [PAGE 51])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Reglement_PLU_zone_UYb_Sochaux.pdf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12/28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Analyse PLU — Zone UYb (Sochaux)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8640165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/>
              <a:t>Analyse Réglementaire PLU — Sochaux (zone UYb)</a:t>
            </a:r>
          </a:p>
        </p:txBody>
      </p:sp>
      <p:sp>
        <p:nvSpPr>
          <p:cNvPr id="4" name="comments_body"/>
          <p:cNvSpPr/>
          <p:nvPr/>
        </p:nvSpPr>
        <p:spPr>
          <a:xfrm>
            <a:off x="251917" y="1417319"/>
            <a:ext cx="8640165" cy="315468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 bIns="91440" wrap="square"/>
          <a:lstStyle/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9. CONCLUSION FAISABILITÉ DU PROJET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Statut global : OUI PROBABLE</a:t>
            </a:r>
          </a:p>
          <a:p>
            <a:pPr algn="just">
              <a:spcAft>
                <a:spcPts val="200"/>
              </a:spcAft>
            </a:pPr>
            <a:r>
              <a:rPr sz="800" b="1" i="0">
                <a:solidFill>
                  <a:srgbClr val="333333"/>
                </a:solidFill>
              </a:rPr>
              <a:t xml:space="preserve">Entrepôt</a:t>
            </a:r>
            <a:r>
              <a:rPr sz="800" b="0" i="0">
                <a:solidFill>
                  <a:srgbClr val="333333"/>
                </a:solidFill>
              </a:rPr>
              <a:t xml:space="preserve"> /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 : AUTORISÉ (51)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La zone UYb est explicitement destinée aux activités </a:t>
            </a:r>
            <a:r>
              <a:rPr sz="800" b="1" i="0">
                <a:solidFill>
                  <a:srgbClr val="333333"/>
                </a:solidFill>
              </a:rPr>
              <a:t xml:space="preserve">industrielles</a:t>
            </a:r>
            <a:r>
              <a:rPr sz="800" b="0" i="0">
                <a:solidFill>
                  <a:srgbClr val="333333"/>
                </a:solidFill>
              </a:rPr>
              <a:t xml:space="preserve">, ce qui permet l'implantation d'un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 sous la sous-destination '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  <a:r>
              <a:rPr sz="800" b="0" i="0">
                <a:solidFill>
                  <a:srgbClr val="333333"/>
                </a:solidFill>
              </a:rPr>
              <a:t xml:space="preserve">'.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</a:defRPr>
            </a:pPr>
            <a:r>
              <a:rPr/>
              <a:t>10. CLASSIFICATION DATACENTER — QUEL RÈGLEMENT S'APPLIQUE ?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Sous-destination recommandée : 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Justification : Le </a:t>
            </a:r>
            <a:r>
              <a:rPr sz="800" b="1" i="0">
                <a:solidFill>
                  <a:srgbClr val="333333"/>
                </a:solidFill>
              </a:rPr>
              <a:t xml:space="preserve">datacenter</a:t>
            </a:r>
            <a:r>
              <a:rPr sz="800" b="0" i="0">
                <a:solidFill>
                  <a:srgbClr val="333333"/>
                </a:solidFill>
              </a:rPr>
              <a:t xml:space="preserve"> est une infrastructure technique lourde (refroidissement, énergie) correspondant à la vocation </a:t>
            </a:r>
            <a:r>
              <a:rPr sz="800" b="1" i="0">
                <a:solidFill>
                  <a:srgbClr val="333333"/>
                </a:solidFill>
              </a:rPr>
              <a:t xml:space="preserve">industrielle</a:t>
            </a:r>
            <a:r>
              <a:rPr sz="800" b="0" i="0">
                <a:solidFill>
                  <a:srgbClr val="333333"/>
                </a:solidFill>
              </a:rPr>
              <a:t xml:space="preserve"> de la zone UYb.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  <a:r>
              <a:rPr sz="800" b="0" i="0">
                <a:solidFill>
                  <a:srgbClr val="333333"/>
                </a:solidFill>
              </a:rPr>
              <a:t xml:space="preserve"> : OUI (Article UY/UX 1 et 2)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</a:t>
            </a:r>
            <a:r>
              <a:rPr sz="800" b="1" i="0">
                <a:solidFill>
                  <a:srgbClr val="333333"/>
                </a:solidFill>
              </a:rPr>
              <a:t xml:space="preserve">Entrepôt</a:t>
            </a:r>
            <a:r>
              <a:rPr sz="800" b="0" i="0">
                <a:solidFill>
                  <a:srgbClr val="333333"/>
                </a:solidFill>
              </a:rPr>
              <a:t xml:space="preserve"> : OUI (Article UY/UX 1 et 2)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  - Équipement d'intérêt collectif : N/A — à vérifier manuellement</a:t>
            </a:r>
          </a:p>
          <a:p>
            <a:pPr algn="just">
              <a:spcAft>
                <a:spcPts val="200"/>
              </a:spcAft>
            </a:pPr>
            <a:r>
              <a:rPr sz="800" b="0" i="0">
                <a:solidFill>
                  <a:srgbClr val="333333"/>
                </a:solidFill>
              </a:rPr>
              <a:t xml:space="preserve">➜ Recommandation : Déposer le permis sous la sous-destination '</a:t>
            </a:r>
            <a:r>
              <a:rPr sz="800" b="1" i="0">
                <a:solidFill>
                  <a:srgbClr val="333333"/>
                </a:solidFill>
              </a:rPr>
              <a:t xml:space="preserve">Industrie</a:t>
            </a:r>
            <a:r>
              <a:rPr sz="800" b="0" i="0">
                <a:solidFill>
                  <a:srgbClr val="333333"/>
                </a:solidFill>
              </a:rPr>
              <a:t xml:space="preserve">' pour correspondre à la vocation principale de la zone UYb.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17" y="4709160"/>
            <a:ext cx="8640165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2"/>
              </a:rPr>
              <a:t>Règlement PLU PDF — Reglement_PLU_zone_UYb_Sochaux.pdf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13/28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 sz="3600"/>
              <a:t>Environnement Électrique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9882"/>
            <a:ext cx="4160520" cy="2915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173365"/>
            <a:ext cx="4251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i="1">
                <a:solidFill>
                  <a:srgbClr val="555555"/>
                </a:solidFill>
                <a:latin typeface="Calibri"/>
              </a:defRPr>
            </a:pPr>
            <a:r>
              <a:t>pin : site analysé    ● vert : poste de distribution Enedis    cartouche bas-droite : postes source RTE (63 kV et plus), couleur = palier de 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097280"/>
            <a:ext cx="4160520" cy="320040"/>
          </a:xfrm>
          <a:prstGeom prst="rect">
            <a:avLst/>
          </a:prstGeom>
          <a:solidFill>
            <a:srgbClr val="1F6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6" name="comments_bg"/>
          <p:cNvSpPr/>
          <p:nvPr/>
        </p:nvSpPr>
        <p:spPr>
          <a:xfrm>
            <a:off x="4709160" y="1417319"/>
            <a:ext cx="4160520" cy="3200400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ents_body"/>
          <p:cNvSpPr/>
          <p:nvPr/>
        </p:nvSpPr>
        <p:spPr>
          <a:xfrm>
            <a:off x="4709160" y="1417319"/>
            <a:ext cx="1952243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 rIns="73152" bIns="54864" wrap="square">
            <a:normAutofit/>
          </a:bodyPr>
          <a:lstStyle/>
          <a:p>
            <a:pPr algn="just" marL="0" indent="0"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  <a:latin typeface="Calibri"/>
              </a:defRPr>
            </a:pPr>
            <a:r>
              <a:rPr/>
              <a:t>Postes source RTE (gestionnaire du réseau de transport d'électricité) — transport haute tension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Poste source RTE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≥ 225 kV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: PE (poste électrique) d’Étupes (225 kV)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1.56 km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— direction E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Poste source RTE le plus proche : RTE (63 kV)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0.66 km</a:t>
            </a:r>
          </a:p>
          <a:p>
            <a:pPr algn="just" marL="123444" indent="-123444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1">
                <a:solidFill>
                  <a:srgbClr val="333333"/>
                </a:solidFill>
                <a:latin typeface="Calibri"/>
              </a:rPr>
              <a:t>Capacité brute maximale :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~500 MW</a:t>
            </a:r>
          </a:p>
          <a:p>
            <a:pPr algn="just" marL="123444" indent="0">
              <a:spcAft>
                <a:spcPts val="100"/>
              </a:spcAft>
            </a:pPr>
            <a:r>
              <a:rPr sz="750" i="1">
                <a:solidFill>
                  <a:srgbClr val="666666"/>
                </a:solidFill>
                <a:latin typeface="Calibri"/>
              </a:rPr>
              <a:t>somme des 5 postes RTE dans 5 km :</a:t>
            </a:r>
          </a:p>
          <a:p>
            <a:pPr algn="just" marL="274320" indent="-150876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–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PE d’Étupes (225 kV ~300 MW)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1.6 km</a:t>
            </a:r>
          </a:p>
          <a:p>
            <a:pPr algn="just" marL="274320" indent="-150876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–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RTE (63 kV ~50 MW)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0.7 km</a:t>
            </a:r>
          </a:p>
          <a:p>
            <a:pPr algn="just" marL="274320" indent="-150876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–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RTE (63 kV ~50 MW)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1.2 km</a:t>
            </a:r>
          </a:p>
          <a:p>
            <a:pPr algn="just" marL="274320" indent="-150876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–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RTE (63 kV ~50 MW)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3.4 km</a:t>
            </a:r>
          </a:p>
          <a:p>
            <a:pPr algn="just" marL="274320" indent="-150876">
              <a:spcAft>
                <a:spcPts val="1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–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RTE (63 kV ~50 MW)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4.8 km</a:t>
            </a:r>
          </a:p>
        </p:txBody>
      </p:sp>
      <p:sp>
        <p:nvSpPr>
          <p:cNvPr id="8" name="comments_body_col2"/>
          <p:cNvSpPr/>
          <p:nvPr/>
        </p:nvSpPr>
        <p:spPr>
          <a:xfrm>
            <a:off x="6917436" y="1417319"/>
            <a:ext cx="1952243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 rIns="73152" bIns="54864" wrap="square">
            <a:normAutofit/>
          </a:bodyPr>
          <a:lstStyle/>
          <a:p>
            <a:pPr algn="just" marL="0" indent="0"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  <a:latin typeface="Calibri"/>
              </a:defRPr>
            </a:pPr>
            <a:r>
              <a:rPr/>
              <a:t>Lignes électriques à proximité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Ligne aérienne la plus proche :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63 kV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300 m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Ligne souterraine la plus proche : aucune (rayon 15 km)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Option piquage : ligne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225 kV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à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1.49 km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— capacité potentielle ~300 MW via entrée en coupure + création d'un poste client (réf. coût 30-55 M€, à confirmer par PTF RTE)</a:t>
            </a:r>
          </a:p>
          <a:p>
            <a:pPr algn="just" marL="0" indent="0">
              <a:spcBef>
                <a:spcPts val="600"/>
              </a:spcBef>
              <a:spcAft>
                <a:spcPts val="200"/>
              </a:spcAft>
              <a:defRPr sz="900" b="1">
                <a:solidFill>
                  <a:srgbClr val="1F6B8E"/>
                </a:solidFill>
                <a:latin typeface="Calibri"/>
              </a:defRPr>
            </a:pPr>
            <a:r>
              <a:rPr/>
              <a:t>Distribution Enedis (HTA/BT)</a:t>
            </a:r>
          </a:p>
          <a:p>
            <a:pPr algn="just" marL="123444" indent="-123444">
              <a:spcAft>
                <a:spcPts val="300"/>
              </a:spcAft>
            </a:pPr>
            <a:r>
              <a:rPr sz="850" b="1">
                <a:solidFill>
                  <a:srgbClr val="1F6B8E"/>
                </a:solidFill>
                <a:latin typeface="Calibri"/>
              </a:rPr>
              <a:t>• 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Sous-station Enedis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20/0,4 kV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la plus proche : </a:t>
            </a:r>
            <a:r>
              <a:rPr sz="850" i="0" b="1">
                <a:solidFill>
                  <a:srgbClr val="1E3A5F"/>
                </a:solidFill>
                <a:latin typeface="Calibri"/>
              </a:rPr>
              <a:t>620 m</a:t>
            </a:r>
            <a:r>
              <a:rPr sz="850" i="0" b="0">
                <a:solidFill>
                  <a:srgbClr val="333333"/>
                </a:solidFill>
                <a:latin typeface="Calibri"/>
              </a:rPr>
              <a:t> — Enedis</a:t>
            </a:r>
          </a:p>
          <a:p>
            <a:pPr algn="just" marL="123444" indent="0">
              <a:spcAft>
                <a:spcPts val="3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rPr/>
              <a:t>3 plus proches : 620m ✓ ; 640m ✓ ; 670m ✓  (✓=20/0,4 kV confirmé, ?=présumé)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OpenInfraMap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14/28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Carte des postes électriques (30 km)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20" y="1097280"/>
            <a:ext cx="6258560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OpenInfraMap</a:t>
            </a:r>
            <a:r>
              <a:rPr sz="800">
                <a:solidFill>
                  <a:srgbClr val="999999"/>
                </a:solidFill>
              </a:rPr>
              <a:t>   |   </a:t>
            </a:r>
            <a:r>
              <a:rPr sz="900" u="sng">
                <a:solidFill>
                  <a:srgbClr val="4A5FE3"/>
                </a:solidFill>
                <a:hlinkClick r:id="rId4"/>
              </a:rPr>
              <a:t>Source : www.openstreetmap.org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15/28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Besoins en électricité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7315200" cy="292608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Estimation de la puissance électrique requise</a:t>
            </a:r>
          </a:p>
        </p:txBody>
      </p:sp>
      <p:sp>
        <p:nvSpPr>
          <p:cNvPr id="4" name="elec_needs_body"/>
          <p:cNvSpPr/>
          <p:nvPr/>
        </p:nvSpPr>
        <p:spPr>
          <a:xfrm>
            <a:off x="914400" y="1298448"/>
            <a:ext cx="7315200" cy="3456432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37160" wrap="square">
            <a:normAutofit/>
          </a:bodyPr>
          <a:lstStyle/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1. Données d'entrée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Surface totale de la parcelle : 30.28 ha (302 804 m²)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Emprise au sol maximale (PLU) : 50%  —  source : valeur par défaut (règlement PLU non analysé)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Hauteur maximale (PLU) : 35.0 m  —  source : PLU (résumé IA) — hauteur nette toiture — Exincourt</a:t>
            </a:r>
          </a:p>
          <a:p>
            <a:pPr algn="just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2. Calculs intermédiaires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Surface au sol dédiée au datacenter = 30.28 ha × 50% = 15.14 ha (151 402 m²)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Nombre d'étages possibles = ⌊ 35.0 m / 7 m ⌋ = 5 étage(s)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Calibri"/>
              </a:rPr>
              <a:t>   • Densité électrique retenue : 10 MW par hectare et par étage</a:t>
            </a:r>
          </a:p>
          <a:p>
            <a:pPr algn="just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3. Résultat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Besoin = 15.14 ha × 5 étage(s) × 10 MW/ha/étage</a:t>
            </a:r>
          </a:p>
          <a:p>
            <a:pPr algn="just"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4A5FE3"/>
                </a:solidFill>
                <a:latin typeface="Calibri"/>
              </a:rPr>
              <a:t>➜ Besoin en électricité estimé : 757.0 MW</a:t>
            </a:r>
          </a:p>
          <a:p>
            <a:pPr algn="just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4. Comparaison besoin / capacité disponible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Capacité brute maximale (somme des postes RTE ≤ 5 km, sinon le plus proche) : 500 MW</a:t>
            </a:r>
          </a:p>
          <a:p>
            <a:pPr algn="just">
              <a:spcBef>
                <a:spcPts val="200"/>
              </a:spcBef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   ⚠ Capacité insuffisante : besoin 757.0 MW dépasse la capacité de 257 MW (ratio 151%)</a:t>
            </a:r>
          </a:p>
          <a:p>
            <a:pPr algn="just">
              <a:spcBef>
                <a:spcPts val="400"/>
              </a:spcBef>
              <a:spcAft>
                <a:spcPts val="0"/>
              </a:spcAft>
            </a:pPr>
            <a:r>
              <a:rPr sz="700" b="0" i="1">
                <a:solidFill>
                  <a:srgbClr val="666666"/>
                </a:solidFill>
                <a:latin typeface="Calibri"/>
              </a:rPr>
              <a:t>Note : estimation théorique fondée sur la valorisation maximale de la parcelle (emprise au sol × hauteur réglementaire). Capacité brute maximale : somme des postes RTE à ≤5 km, paliers 63 kV→50 MW, 220 kV→300 MW, 400 kV→1 GW par poste (sinon le poste RTE le plus proche, seul).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16/28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Servitudes Aéronautiques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9252"/>
            <a:ext cx="5120640" cy="3147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Aéroport le plus proche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Aérodrome de Montbéliard-Courcelles (LFSM) à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3.3 km</a:t>
            </a:r>
          </a:p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Survol du site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Axes non déterminables — lecture visuelle de la carte</a:t>
            </a:r>
          </a:p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Hauteur admissible (indicatif)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À lire sur le PSA officiel (DGAC)</a:t>
            </a:r>
          </a:p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Verdict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NON IMPACTÉ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— aucun polygone de servitude aéronautique au point (source GPU (Géoportail de l'urbanisme) officielle)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Géoportail Urbanisme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Connectivité Backbone (fibre optique)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11" y="1097280"/>
            <a:ext cx="5093937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Opérateurs à moins de 5 km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Arteria jusqu'à 1 Tbit/s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(1.4 km), Terralpha 10 à 800 Gbit/s (1.7 km) (+1 entre 5 et 25 km)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Terralpha : tracé reconstitué (non publié). Fibre très probable, voie équipée en radio sol-train.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À confirmer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auprès de l'opérateur.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Hub d'interconnexion FLAP-D (Francfort, Londres, Amsterdam, Paris, Dublin) le plus proche : Francfort —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320 km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(~3.4 ms fibre aller simple)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18/28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Réutilisation de Chaleur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57299"/>
            <a:ext cx="5486400" cy="2926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97280" y="4338827"/>
            <a:ext cx="274320" cy="3657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422909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rPr/>
              <a:t>Réseau existant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39" y="4338827"/>
            <a:ext cx="274320" cy="36576"/>
          </a:xfrm>
          <a:prstGeom prst="rect">
            <a:avLst/>
          </a:prstGeom>
          <a:solidFill>
            <a:srgbClr val="C61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79" y="422909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rPr/>
              <a:t>Réseau en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9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wrap="square">
            <a:normAutofit/>
          </a:bodyPr>
          <a:lstStyle/>
          <a:p>
            <a:pPr algn="just">
              <a:spcBef>
                <a:spcPts val="540"/>
              </a:spcBef>
              <a:spcAft>
                <a:spcPts val="90"/>
              </a:spcAft>
              <a:defRPr sz="1100" b="1">
                <a:solidFill>
                  <a:srgbClr val="00A651"/>
                </a:solidFill>
                <a:latin typeface="Calibri"/>
              </a:defRPr>
            </a:pPr>
            <a:r>
              <a:rPr sz="990"/>
              <a:t>▸ Réseau existant le plus proche</a:t>
            </a:r>
          </a:p>
          <a:p>
            <a:pPr algn="just" marL="274320" indent="-137160">
              <a:spcAft>
                <a:spcPts val="270"/>
              </a:spcAft>
              <a:defRPr>
                <a:latin typeface="Calibri"/>
              </a:defRPr>
            </a:pPr>
            <a:r>
              <a:rPr sz="900" b="1">
                <a:solidFill>
                  <a:srgbClr val="00A651"/>
                </a:solidFill>
                <a:latin typeface="Calibri"/>
              </a:rPr>
              <a:t>▪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Reseau existant : Réseau de Montbéliard — Montbéliard Energies (DALKIA) a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0.90 km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au O</a:t>
            </a:r>
          </a:p>
          <a:p>
            <a:pPr algn="just" marL="274320" indent="-137160">
              <a:spcAft>
                <a:spcPts val="270"/>
              </a:spcAft>
              <a:defRPr>
                <a:latin typeface="Calibri"/>
              </a:defRPr>
            </a:pPr>
            <a:r>
              <a:rPr sz="900" b="1">
                <a:solidFill>
                  <a:srgbClr val="00A651"/>
                </a:solidFill>
                <a:latin typeface="Calibri"/>
              </a:rPr>
              <a:t>▪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Mix énergétique :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45 %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d'énergies fossiles ·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55 %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renouvelable &amp; récupération</a:t>
            </a:r>
          </a:p>
          <a:p>
            <a:pPr algn="just">
              <a:spcBef>
                <a:spcPts val="540"/>
              </a:spcBef>
              <a:spcAft>
                <a:spcPts val="90"/>
              </a:spcAft>
              <a:defRPr sz="1100" b="1">
                <a:solidFill>
                  <a:srgbClr val="C6168D"/>
                </a:solidFill>
                <a:latin typeface="Calibri"/>
              </a:defRPr>
            </a:pPr>
            <a:r>
              <a:rPr sz="990"/>
              <a:t>▸ Projets en développement</a:t>
            </a:r>
          </a:p>
          <a:p>
            <a:pPr algn="just" marL="274320" indent="-137160">
              <a:spcAft>
                <a:spcPts val="270"/>
              </a:spcAft>
              <a:defRPr>
                <a:latin typeface="Calibri"/>
              </a:defRPr>
            </a:pPr>
            <a:r>
              <a:rPr sz="900" b="1">
                <a:solidFill>
                  <a:srgbClr val="C6168D"/>
                </a:solidFill>
                <a:latin typeface="Calibri"/>
              </a:rPr>
              <a:t>▪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Projet en developpement : Projet de reseau — Montbéliard Energies (DALKIA) a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1.75 km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au O</a:t>
            </a:r>
          </a:p>
          <a:p>
            <a:pPr algn="just">
              <a:spcBef>
                <a:spcPts val="540"/>
              </a:spcBef>
              <a:spcAft>
                <a:spcPts val="90"/>
              </a:spcAft>
              <a:defRPr sz="1100" b="1">
                <a:solidFill>
                  <a:srgbClr val="1F6B8E"/>
                </a:solidFill>
                <a:latin typeface="Calibri"/>
              </a:defRPr>
            </a:pPr>
            <a:r>
              <a:rPr sz="990"/>
              <a:t>▸ Raccordement au réseau (indicatif)</a:t>
            </a:r>
          </a:p>
          <a:p>
            <a:pPr algn="just" marL="274320" indent="-137160">
              <a:spcAft>
                <a:spcPts val="27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▪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Coût de raccordement estimé :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637 k€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–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1.12 M€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(médiane 881 k€, canalisation ~1532 mètres linéaires)</a:t>
            </a:r>
          </a:p>
          <a:p>
            <a:pPr algn="just" marL="274320" indent="-137160">
              <a:spcAft>
                <a:spcPts val="27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▪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Coût estimé pour votre entreprise après aides Fonds Chaleur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~50 %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: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~440 k€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 (indicatif, hors pompe à chaleur/poste — devis requis)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4"/>
              </a:rPr>
              <a:t>Source : France Chaleur Urbaine</a:t>
            </a:r>
            <a:r>
              <a:rPr sz="900">
                <a:solidFill>
                  <a:srgbClr val="333333"/>
                </a:solidFill>
              </a:rPr>
              <a:t xml:space="preserve">    ·    </a:t>
            </a:r>
            <a:r>
              <a:rPr sz="900" u="sng">
                <a:solidFill>
                  <a:srgbClr val="4A5FE3"/>
                </a:solidFill>
                <a:hlinkClick r:id="rId5"/>
              </a:rPr>
              <a:t>CEREMA (coût de raccordement)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19/28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Risque d'Inondation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81" y="1097280"/>
            <a:ext cx="4674197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EXISTANT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EXISTANT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intégrité des fondations, accès, alimentation électrique. Études hydrauliques requises si concerné.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20/28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 sz="3600"/>
              <a:t>Profondeur de Nappe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03" y="1097280"/>
            <a:ext cx="4042752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Profondeur de la nappe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30.41 m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sous le sol — mesurée à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9.14 km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du site (dernière mesure 2026-09-22)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Niveau piézométrique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329.3 m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NGF (nivellement général de la France, référence d'altitude)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Piézomètre de référence : 04438X0018/S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ADES — mesures piézométriques</a:t>
            </a:r>
            <a:r>
              <a:rPr sz="800">
                <a:solidFill>
                  <a:srgbClr val="999999"/>
                </a:solidFill>
              </a:rPr>
              <a:t>   |   </a:t>
            </a:r>
            <a:r>
              <a:rPr sz="900" u="sng">
                <a:solidFill>
                  <a:srgbClr val="4A5FE3"/>
                </a:solidFill>
                <a:hlinkClick r:id="rId4"/>
              </a:rPr>
              <a:t>Source : ADES — fiche du point d'eau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 sz="3600"/>
              <a:t>Composition des Sols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47" y="1097280"/>
            <a:ext cx="4371064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Nature dominante du sous-sol : Grès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Type de roche : Roches Sédimentaires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⚠ 4 cavité(s) souterraine(s) recensée(s) sous 2 km (la plus proche à 1.44 km) — BRGM/Géorisques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infoterre.brgm.fr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Anciennes Carrières Souterraines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16" y="1097280"/>
            <a:ext cx="4535326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416" y="4315968"/>
            <a:ext cx="6675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i="1">
                <a:solidFill>
                  <a:srgbClr val="555555"/>
                </a:solidFill>
                <a:latin typeface="Calibri"/>
              </a:defRPr>
            </a:pPr>
            <a:r>
              <a:t>● bleu : site analysé     ● brun : cavité recensée     ● rouge : mouvement de terrain avéré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6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Constat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⚠ 4 cavités sous 2 km, dont 4 de type « naturelle », la plus proche à </a:t>
            </a:r>
            <a:r>
              <a:rPr sz="900" i="0" b="1">
                <a:solidFill>
                  <a:srgbClr val="1E3A5F"/>
                </a:solidFill>
                <a:latin typeface="Calibri"/>
              </a:rPr>
              <a:t>1.4 km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Aléa dominant : dissolution karstique, effondrement de cavité naturelle</a:t>
            </a:r>
          </a:p>
          <a:p>
            <a:pPr algn="just" marL="0" indent="0">
              <a:spcBef>
                <a:spcPts val="300"/>
              </a:spcBef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1F6B8E"/>
                </a:solidFill>
                <a:latin typeface="Calibri"/>
              </a:rPr>
              <a:t>▸ </a:t>
            </a:r>
            <a:r>
              <a:rPr sz="1000" b="1">
                <a:solidFill>
                  <a:srgbClr val="1F6B8E"/>
                </a:solidFill>
                <a:latin typeface="Calibri"/>
              </a:rPr>
              <a:t>À faire avant le permis</a:t>
            </a:r>
          </a:p>
          <a:p>
            <a:pPr algn="just" marL="123444" indent="-123444">
              <a:spcAft>
                <a:spcPts val="200"/>
              </a:spcAft>
              <a:defRPr>
                <a:latin typeface="Calibri"/>
              </a:defRPr>
            </a:pPr>
            <a:r>
              <a:rPr sz="900" b="1">
                <a:solidFill>
                  <a:srgbClr val="1F6B8E"/>
                </a:solidFill>
                <a:latin typeface="Calibri"/>
              </a:rPr>
              <a:t>• </a:t>
            </a:r>
            <a:r>
              <a:rPr sz="900" i="0" b="0">
                <a:solidFill>
                  <a:srgbClr val="333333"/>
                </a:solidFill>
                <a:latin typeface="Calibri"/>
              </a:rPr>
              <a:t>Étude géotechnique G2 avec sondages sur l'emprise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Géoportail Urbanisme</a:t>
            </a:r>
            <a:r>
              <a:rPr sz="800">
                <a:solidFill>
                  <a:srgbClr val="999999"/>
                </a:solidFill>
              </a:rPr>
              <a:t>   |   </a:t>
            </a:r>
            <a:r>
              <a:rPr sz="900" u="sng">
                <a:solidFill>
                  <a:srgbClr val="4A5FE3"/>
                </a:solidFill>
                <a:hlinkClick r:id="rId4"/>
              </a:rPr>
              <a:t>Source : Géorisques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23/28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200">
                <a:solidFill>
                  <a:srgbClr val="4A5FE3"/>
                </a:solidFill>
                <a:latin typeface="Calibri Light"/>
              </a:defRPr>
            </a:pPr>
            <a:r>
              <a:rPr/>
              <a:t>Infrastructures Souterraines (Métro/Tunnel)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09254"/>
            <a:ext cx="5120640" cy="35879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2 tunnel(s) ferroviaire(s)/métro détecté(s) dans un rayon de 2 km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Tunnel le plus proche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~2180 m</a:t>
            </a:r>
          </a:p>
          <a:p>
            <a:pPr algn="just" marL="274320" indent="-150876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–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Ligne de Dole à Belfort (rail) —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2180 m</a:t>
            </a:r>
          </a:p>
          <a:p>
            <a:pPr algn="just" marL="274320" indent="-150876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–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Ligne de Dole à Belfort (rail) —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2180 m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⚠ Contrainte possible de charge au sol (~5 T/m²) en zone de tréfonds —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à confirmer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auprès de l'exploitant (RATP / Société du Grand Paris / SNCF Réseau)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www.openrailwaymap.org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/>
              <a:t>Sites Seveso à proximité — Cartographie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374"/>
            <a:ext cx="5120640" cy="27442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087873"/>
            <a:ext cx="6675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i="1">
                <a:solidFill>
                  <a:srgbClr val="555555"/>
                </a:solidFill>
                <a:latin typeface="Calibri"/>
              </a:defRPr>
            </a:pPr>
            <a:r>
              <a:t>pin : site analysé    ● rouge : site Seveso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6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1 site(s) Seveso identifié(s) à proximité du projet (rayon 10 km)</a:t>
            </a:r>
          </a:p>
          <a:p>
            <a:pPr algn="just" marL="274320" indent="-150876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–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SOTREFI (Seuil BAS) —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3.0 km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✓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Site HORS de tout périmètre réglementé de PPRT (servitude PM3, source Géoportail de l'urbanisme)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Fiche détaillée de chaque site sur les slides suivantes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umap.openstreetmap.fr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25/28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Site Seveso — SOTREFI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7315200" cy="292608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Fiche détaillée 1/1 — Seuil BAS — à 3.0 km du projet</a:t>
            </a:r>
          </a:p>
        </p:txBody>
      </p:sp>
      <p:sp>
        <p:nvSpPr>
          <p:cNvPr id="4" name="seveso_body"/>
          <p:cNvSpPr/>
          <p:nvPr/>
        </p:nvSpPr>
        <p:spPr>
          <a:xfrm>
            <a:off x="914400" y="1069848"/>
            <a:ext cx="7315200" cy="370332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rIns="274320" bIns="73152" wrap="square"/>
          <a:lstStyle/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1. Identité du site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Adresse : 48 rue des Tonneliers, 25460, Étupes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Statut Seveso : Seveso seuil bas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État d activité : En exploitation avec titre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Activité : NAF 38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Régime administratif : Autorisation — IED, Priorité nationale</a:t>
            </a:r>
          </a:p>
          <a:p>
            <a:pPr algn="just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2. Rubriques ICPE principales (substances / quantités)</a:t>
            </a:r>
          </a:p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   • Rubrique 3550 — stockage temporaire de déchets — 250.000 t — [Autorisation]</a:t>
            </a:r>
          </a:p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   • Rubrique 2795 — Lavage de fûts, conteneurs,... de substances ou mélanges ... — 19.500 m3/j — [Déclaration avec contrôle]</a:t>
            </a:r>
          </a:p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   • Rubrique 2716 — déchets non dangereux non inertes (transit) — 0.000 m3 — [Déclaration avec contrôle]</a:t>
            </a:r>
          </a:p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   • Rubrique 2790 — Traitement de déchets dangereux — [Autorisation]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   … 1 rubrique supplémentaire (voir fiche Géorisques)</a:t>
            </a:r>
          </a:p>
          <a:p>
            <a:pPr algn="just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3. Suivi inspection (DREAL)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Dernier rapport d inspection : 2026-09-08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   • 7 arrêté(s) préfectoral(aux) / document(s) annexé(s) (voir Géorisques)</a:t>
            </a:r>
          </a:p>
          <a:p>
            <a:pPr algn="just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1F6B8E"/>
                </a:solidFill>
                <a:latin typeface="Calibri"/>
              </a:rPr>
              <a:t>4. Analyse du risque pour le projet datacenter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00875A"/>
                </a:solidFill>
                <a:latin typeface="Calibri"/>
              </a:rPr>
              <a:t>   Site Seveso seuil bas à 3.0 km du projet. Les distances d'effets sont propres à chaque établissement et figurent dans son étude de dangers ; le périmètre opposable est celui du PPRT (cf. slide Cartographie).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u="sng">
                <a:solidFill>
                  <a:srgbClr val="4A5FE3"/>
                </a:solidFill>
                <a:latin typeface="Calibri"/>
                <a:hlinkClick r:id="rId2"/>
              </a:rPr>
              <a:t>Source : fiche Géorisques de l'installation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26/28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5FE3"/>
                </a:solidFill>
                <a:latin typeface="Calibri"/>
              </a:defRPr>
            </a:pPr>
            <a:r>
              <a:t>Géorisques — Synthèse des aléas à l'adresse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  <a:latin typeface="Calibri"/>
              </a:defRPr>
            </a:pPr>
            <a:r>
              <a:t>Légende :  vert = aucun aléa / non concerné   ·   orange = à vérifier   ·   rouge = concerné /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66666"/>
                </a:solidFill>
                <a:latin typeface="Calibri"/>
              </a:defRPr>
            </a:pPr>
            <a:r>
              <a:t>Source : rapport Géorisques (georisques.gouv.fr), service de l'État — aléas naturels et technologiques recensés au droit de l'adresse du site. Le détail de chaque aléa reste consultable sur le portail via les liens de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" y="1444752"/>
            <a:ext cx="1766620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Aléa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8080" y="1444752"/>
            <a:ext cx="925372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Statut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3453" y="1444752"/>
            <a:ext cx="1514246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Détail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" y="1737360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Canalisations TMD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8080" y="1737360"/>
            <a:ext cx="925372" cy="292608"/>
          </a:xfrm>
          <a:prstGeom prst="rect">
            <a:avLst/>
          </a:prstGeom>
          <a:solidFill>
            <a:srgbClr val="C62828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Concerné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3453" y="1737360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CONCERNÉ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" y="2029968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Industriel (ICPE)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8080" y="2029968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3453" y="2029968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NON CONCERNÉ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" y="2322576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Inondation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8080" y="2322576"/>
            <a:ext cx="925372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3453" y="2322576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EXISTANT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" y="2615184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Mouvements de terrain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8080" y="2615184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3453" y="2615184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INCONNU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" y="2907792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Radon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8080" y="2907792"/>
            <a:ext cx="925372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3453" y="2907792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MODÉRÉ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" y="3200400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Remontée de nappe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8080" y="3200400"/>
            <a:ext cx="925372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3453" y="3200400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EXISTANT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" y="3493008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Rupture de barrage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8080" y="3493008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3453" y="3493008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INCONNU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6300" y="1444752"/>
            <a:ext cx="1766620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Aléa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2920" y="1444752"/>
            <a:ext cx="925372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Statut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8293" y="1444752"/>
            <a:ext cx="1514246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Détail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6300" y="1737360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Retrait-gonflement argiles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2920" y="1737360"/>
            <a:ext cx="925372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8293" y="1737360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MODÉRÉ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6300" y="2029968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Sismicité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52920" y="2029968"/>
            <a:ext cx="925372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78293" y="2029968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MODÉRÉ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6300" y="2322576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Pollution des sols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2920" y="2322576"/>
            <a:ext cx="925372" cy="292608"/>
          </a:xfrm>
          <a:prstGeom prst="rect">
            <a:avLst/>
          </a:prstGeom>
          <a:solidFill>
            <a:srgbClr val="C62828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Concerné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78293" y="2322576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CONCERNÉ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6300" y="2615184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Submersion marine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2920" y="2615184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78293" y="2615184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Risque non présent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86300" y="2907792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Risques miniers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52920" y="2907792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8293" y="2907792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Risque non présent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6300" y="3200400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Feux de forêt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2920" y="3200400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8293" y="3200400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Risque non présent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6300" y="3493008"/>
            <a:ext cx="17666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Nucléaire (PPI)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2920" y="3493008"/>
            <a:ext cx="925372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78293" y="3493008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Risque non présent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27/28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5FE3"/>
                </a:solidFill>
                <a:latin typeface="Calibri"/>
              </a:defRPr>
            </a:pPr>
            <a:r>
              <a:t>Synthèse — Tableau récapitulatif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  <a:latin typeface="Calibri"/>
              </a:defRPr>
            </a:pPr>
            <a:r>
              <a:t>Légende :  vert = aucun problème   ·   orange = à vérifier / recherches   ·   rouge = problème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" y="1234440"/>
            <a:ext cx="3974896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Thème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26356" y="1234440"/>
            <a:ext cx="1728216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Statut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54572" y="1234440"/>
            <a:ext cx="2937967" cy="292608"/>
          </a:xfrm>
          <a:prstGeom prst="rect">
            <a:avLst/>
          </a:prstGeom>
          <a:solidFill>
            <a:srgbClr val="4A5FE3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/>
              <a:t>Détail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" y="1527048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PLU / zonage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6356" y="1527048"/>
            <a:ext cx="1728216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54572" y="1527048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Zone UZ (Sochaux, la plus contraignante sur 2 communes) —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" y="1819656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Électricité (postes)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6356" y="1819656"/>
            <a:ext cx="1728216" cy="292608"/>
          </a:xfrm>
          <a:prstGeom prst="rect">
            <a:avLst/>
          </a:prstGeom>
          <a:solidFill>
            <a:srgbClr val="F9A825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À vérifier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4572" y="1819656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Poste à 0.7 km MAIS capacité insuffisante (~500 MW &lt; besoi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" y="2112264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Connectivité backbone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6356" y="2112264"/>
            <a:ext cx="1728216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Raccordable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4572" y="2112264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Tracé fibre à 1.4 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" y="2404872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Réutilisation chaleur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6356" y="2404872"/>
            <a:ext cx="1728216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4572" y="2404872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Réseau à 900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" y="2697480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Servitudes aéronautiques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6356" y="2697480"/>
            <a:ext cx="1728216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4572" y="2697480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Hors servitude (aéroport 3.3 km)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" y="2990088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Seveso / PPRT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6356" y="2990088"/>
            <a:ext cx="1728216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4572" y="2990088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Hors périmètre PPRT (site à 3.0 km)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" y="3282696"/>
            <a:ext cx="397489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222222"/>
                </a:solidFill>
                <a:latin typeface="Calibri"/>
              </a:defRPr>
            </a:pPr>
            <a:r>
              <a:rPr/>
              <a:t>Géorisques (aléas)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6356" y="3282696"/>
            <a:ext cx="1728216" cy="292608"/>
          </a:xfrm>
          <a:prstGeom prst="rect">
            <a:avLst/>
          </a:prstGeom>
          <a:solidFill>
            <a:srgbClr val="C62828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/>
              <a:t>Problème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4572" y="3282696"/>
            <a:ext cx="293796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576" tIns="18288" bIns="18288"/>
          <a:lstStyle/>
          <a:p>
            <a:pPr algn="l">
              <a:defRPr sz="800" b="0">
                <a:solidFill>
                  <a:srgbClr val="444444"/>
                </a:solidFill>
                <a:latin typeface="Calibri"/>
              </a:defRPr>
            </a:pPr>
            <a:r>
              <a:rPr/>
              <a:t>2 problème(s), 5 à vérifier — voir slide Géorisques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28/28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800">
                <a:solidFill>
                  <a:srgbClr val="4A5FE3"/>
                </a:solidFill>
                <a:latin typeface="Calibri Light"/>
              </a:defRPr>
            </a:pPr>
            <a:r>
              <a:rPr sz="3600"/>
              <a:t>Contexte Réseau Électrique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09254"/>
            <a:ext cx="5120640" cy="35879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Vue régionale Caparéseau des capacités d'accueil du réseau pour la PRODUCTION d'énergie renouvelable.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Poste le plus proche du site : RTE (gestionnaire du réseau de transport d'électricité) à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0.66 km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(données S3REnR (schéma régional de raccordement au réseau des énergies renouvelables) non disponibles pour ce poste).</a:t>
            </a:r>
          </a:p>
          <a:p>
            <a:pPr algn="just" marL="123444" indent="-123444">
              <a:spcAft>
                <a:spcPts val="600"/>
              </a:spcAft>
              <a:defRPr>
                <a:latin typeface="Calibri"/>
              </a:defRPr>
            </a:pPr>
            <a:r>
              <a:rPr sz="1100" b="1">
                <a:solidFill>
                  <a:srgbClr val="1F6B8E"/>
                </a:solidFill>
                <a:latin typeface="Calibri"/>
              </a:rPr>
              <a:t>• 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À noter : ces chiffres concernent le branchement de producteurs d'énergie renouvelable, pas la consommation d'un datacenter (à confirmer par une étude de raccordement RTE / Enedis).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www.capareseau.fr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5FE3"/>
                </a:solidFill>
                <a:latin typeface="Calibri"/>
              </a:defRPr>
            </a:pPr>
            <a:r>
              <a:t>Synthèse — Faisabilité &amp; points d'attention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917" y="1097280"/>
            <a:ext cx="422864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rPr/>
              <a:t>✓ Points favorables</a:t>
            </a:r>
          </a:p>
        </p:txBody>
      </p:sp>
      <p:sp>
        <p:nvSpPr>
          <p:cNvPr id="4" name="checklist_col_body"/>
          <p:cNvSpPr/>
          <p:nvPr/>
        </p:nvSpPr>
        <p:spPr>
          <a:xfrm>
            <a:off x="251917" y="1371600"/>
            <a:ext cx="4228642" cy="192024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 wrap="square"/>
          <a:lstStyle/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Poste RTE (gestionnaire du réseau de transport d'électricité) proche : RTE (63 kV) à 0.66 km — capacité brute maximale ~500 MW (somme des postes ≤ 5 km) — insuffisante pour le besoin estimé (757 MW), cf. points d'attention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Backbone fibre proche : tracé fibre carte fibre optique — Arteria (FON SNCF) à 1.4 km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Servitudes aéronautiques (slide 17) NON IMPACTÉ — Aérodrome de Montbéliard-Courcelles à 3.3 km (hors zone GPU)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Réutilisation chaleur (slide 19) FORT POTENTIEL : réseau existant « Réseau de Montbéliard » à 0.90 km — raccordement chaleur fatale envisageable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Site HORS de tout périmètre réglementé de PPRT (servitude PM3, source Géoportail de l'urbanisme)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1 site(s) Seveso recensé(s), le plus proche à 3.0 km et hors de tout périmètre PPRT (plan de prévention des risques technologiques) — distances d'effets à lire dans l'étude de dangers du site concerné</a:t>
            </a:r>
          </a:p>
          <a:p>
            <a:pPr algn="just">
              <a:spcAft>
                <a:spcPts val="90"/>
              </a:spcAft>
              <a:defRPr/>
            </a:pPr>
            <a:r>
              <a:rPr sz="720">
                <a:solidFill>
                  <a:srgbClr val="333333"/>
                </a:solidFill>
                <a:latin typeface="Calibri"/>
              </a:rPr>
              <a:t>• Zone PLU (plan local d'urbanisme) urbanisable : UZ (verdict IA indisponible — vérifier destinations interdites)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4228642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rPr/>
              <a:t>⚠ Points d'attention</a:t>
            </a:r>
          </a:p>
        </p:txBody>
      </p:sp>
      <p:sp>
        <p:nvSpPr>
          <p:cNvPr id="6" name="checklist_col_body"/>
          <p:cNvSpPr/>
          <p:nvPr/>
        </p:nvSpPr>
        <p:spPr>
          <a:xfrm>
            <a:off x="4663440" y="1371600"/>
            <a:ext cx="4228642" cy="1920240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 wrap="square"/>
          <a:lstStyle/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Besoins en électricité (slide 16) NON COUVERTS par les postes existants : besoin estimé 757.0 MW &gt; capacité brute maximale 500 MW (déficit 257 MW, ratio 151%)</a:t>
            </a:r>
          </a:p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Hauteur PLU (plan local d'urbanisme) comptée à l'égout du toit : les ouvrages techniques de toiture (groupes froids, antennes) sont inclus dans le plafond de 40 m — 35 m retenus pour le bâti (réserve 5 m)</a:t>
            </a:r>
          </a:p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Inondation : aléa existant (à mon adresse)</a:t>
            </a:r>
          </a:p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Remontée de nappe : aléa existant (à mon adresse)</a:t>
            </a:r>
          </a:p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Canalisation matières dangereuses : concerné (à mon adresse)</a:t>
            </a:r>
          </a:p>
          <a:p>
            <a:pPr algn="just">
              <a:spcAft>
                <a:spcPts val="100"/>
              </a:spcAft>
            </a:pPr>
            <a:r>
              <a:rPr sz="800">
                <a:solidFill>
                  <a:srgbClr val="333333"/>
                </a:solidFill>
                <a:latin typeface="Calibri"/>
              </a:rPr>
              <a:t>• Pollution des sols : concerné (à mon adresse)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917" y="3401568"/>
            <a:ext cx="8640165" cy="256032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rPr/>
              <a:t>Vérifications manuelles indispensables</a:t>
            </a:r>
          </a:p>
        </p:txBody>
      </p:sp>
      <p:sp>
        <p:nvSpPr>
          <p:cNvPr id="8" name="checklist_verif_body"/>
          <p:cNvSpPr/>
          <p:nvPr/>
        </p:nvSpPr>
        <p:spPr>
          <a:xfrm>
            <a:off x="251917" y="3657600"/>
            <a:ext cx="8640165" cy="841247"/>
          </a:xfrm>
          <a:prstGeom prst="rect">
            <a:avLst/>
          </a:prstGeom>
          <a:solidFill>
            <a:srgbClr val="D8DDE3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rIns="137160" wrap="square"/>
          <a:lstStyle/>
          <a:p>
            <a:pPr algn="just">
              <a:spcAft>
                <a:spcPts val="95"/>
              </a:spcAft>
              <a:defRPr/>
            </a:pPr>
            <a:r>
              <a:rPr b="1" sz="760">
                <a:solidFill>
                  <a:srgbClr val="4A5FE3"/>
                </a:solidFill>
                <a:latin typeface="Calibri"/>
              </a:rPr>
              <a:t>Réglementaire &amp; urbanisme : </a:t>
            </a:r>
            <a:r>
              <a:rPr sz="760">
                <a:solidFill>
                  <a:srgbClr val="333333"/>
                </a:solidFill>
                <a:latin typeface="Calibri"/>
              </a:rPr>
              <a:t>Règlement PLU complet (hauteur, emprise, destinations) · Servitudes : I4, PT1/PT2, PEM, EBC · DT-DICT officielle (reseaux-et-canalisations.gouv.fr)</a:t>
            </a:r>
          </a:p>
          <a:p>
            <a:pPr algn="just">
              <a:spcAft>
                <a:spcPts val="95"/>
              </a:spcAft>
              <a:defRPr/>
            </a:pPr>
            <a:r>
              <a:rPr b="1" sz="760">
                <a:solidFill>
                  <a:srgbClr val="4A5FE3"/>
                </a:solidFill>
                <a:latin typeface="Calibri"/>
              </a:rPr>
              <a:t>Énergie &amp; électricité : </a:t>
            </a:r>
            <a:r>
              <a:rPr sz="760">
                <a:solidFill>
                  <a:srgbClr val="333333"/>
                </a:solidFill>
                <a:latin typeface="Calibri"/>
              </a:rPr>
              <a:t>Capacité RTE/Enedis : devis Capareseau · Coût et délais de raccordement HT · PPA pour mix décarboné</a:t>
            </a:r>
          </a:p>
          <a:p>
            <a:pPr algn="just">
              <a:spcAft>
                <a:spcPts val="95"/>
              </a:spcAft>
              <a:defRPr/>
            </a:pPr>
            <a:r>
              <a:rPr b="1" sz="760">
                <a:solidFill>
                  <a:srgbClr val="4A5FE3"/>
                </a:solidFill>
                <a:latin typeface="Calibri"/>
              </a:rPr>
              <a:t>Connectivité &amp; fibre : </a:t>
            </a:r>
            <a:r>
              <a:rPr sz="760">
                <a:solidFill>
                  <a:srgbClr val="333333"/>
                </a:solidFill>
                <a:latin typeface="Calibri"/>
              </a:rPr>
              <a:t>Devis SLA opérateurs (Eunetworks, Cogent, GTT…) · Diversité de chemins fibre (anti-SPOF) · POP local / colocation neutre</a:t>
            </a:r>
          </a:p>
          <a:p>
            <a:pPr algn="just">
              <a:spcAft>
                <a:spcPts val="95"/>
              </a:spcAft>
              <a:defRPr/>
            </a:pPr>
            <a:r>
              <a:rPr b="1" sz="760">
                <a:solidFill>
                  <a:srgbClr val="4A5FE3"/>
                </a:solidFill>
                <a:latin typeface="Calibri"/>
              </a:rPr>
              <a:t>Risques &amp; études techniques : </a:t>
            </a:r>
            <a:r>
              <a:rPr sz="760">
                <a:solidFill>
                  <a:srgbClr val="333333"/>
                </a:solidFill>
                <a:latin typeface="Calibri"/>
              </a:rPr>
              <a:t>Étude de sol G1/G2 (portance, nappe) · Audit BASOL/BASIAS/SIS si brownfield · Servitudes aéronautiques (DGAC)</a:t>
            </a:r>
          </a:p>
          <a:p>
            <a:pPr algn="just">
              <a:spcAft>
                <a:spcPts val="95"/>
              </a:spcAft>
              <a:defRPr/>
            </a:pPr>
            <a:r>
              <a:rPr b="1" sz="760">
                <a:solidFill>
                  <a:srgbClr val="4A5FE3"/>
                </a:solidFill>
                <a:latin typeface="Calibri"/>
              </a:rPr>
              <a:t>Foncier &amp; gouvernance : </a:t>
            </a:r>
            <a:r>
              <a:rPr sz="760">
                <a:solidFill>
                  <a:srgbClr val="333333"/>
                </a:solidFill>
                <a:latin typeface="Calibri"/>
              </a:rPr>
              <a:t>DPU en mairie + acte de propriété · ICPE : déclaration / autorisation selon puissance · Réseau chaleur : opérateur, capacité,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17" y="4544568"/>
            <a:ext cx="8640165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 i="1">
                <a:solidFill>
                  <a:srgbClr val="777777"/>
                </a:solidFill>
                <a:latin typeface="Calibri"/>
              </a:defRPr>
            </a:pPr>
            <a:r>
              <a:rPr/>
              <a:t>Sources : reseaux-et-canalisations.gouv.fr · capareseau.fr · geoportail-urbanisme.gouv.fr · georisques.gouv.fr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Remontée de Nappe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97" y="1097280"/>
            <a:ext cx="4269565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EXISTANT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EXISTANT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infiltration en sous-sol, fragilisation des fondations, inondation des locaux techniques enterrés. Étanchéité renforcée et drainage périphérique requis.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200">
                <a:solidFill>
                  <a:srgbClr val="4A5FE3"/>
                </a:solidFill>
                <a:latin typeface="Calibri Light"/>
              </a:defRPr>
            </a:pPr>
            <a:r>
              <a:rPr/>
              <a:t>Risques Côtiers (Submersion Marine, Tsunami)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1">
                <a:solidFill>
                  <a:srgbClr val="1E3A5F"/>
                </a:solidFill>
                <a:latin typeface="Calibri"/>
              </a:rPr>
              <a:t>Risque non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Rupture de Barrage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INCONNU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onde de submersion en cas de rupture d'un ouvrage amont ; vérifier l'implantation vis-à-vis de l'onde de submersion (PPI barrage) si le site est situé en aval.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Risque Sismique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20" y="1097280"/>
            <a:ext cx="4636319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Zone de sismicité : 3 (modérée)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conception parasismique (Eurocode 8), équipements ancrés, redondance critique selon zone de sismicité.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Mouvements de Terrain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36" y="1097280"/>
            <a:ext cx="3865687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INCONNU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EXISTANT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stabilité du sol, fondations spéciales (pieux), surveillance instrumentale. Étude G2 obligatoire si aléa avéré.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Risques Miniers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1">
                <a:solidFill>
                  <a:srgbClr val="1E3A5F"/>
                </a:solidFill>
                <a:latin typeface="Calibri"/>
              </a:rPr>
              <a:t>Risque non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Retrait-Gonflement des Argiles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fissures structurelles, désordres fondations. Fondations adaptées (semelles armées, profondeur minimum) selon aléa.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Risque Radon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MODÉRÉ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ventilation des locaux humains, soubassements étanches en zones à fort potentiel. Pas d'enjeu majeur en niveau faible.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Feux de Forêt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1">
                <a:solidFill>
                  <a:srgbClr val="1E3A5F"/>
                </a:solidFill>
                <a:latin typeface="Calibri"/>
              </a:rPr>
              <a:t>Risque non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200">
                <a:solidFill>
                  <a:srgbClr val="4A5FE3"/>
                </a:solidFill>
                <a:latin typeface="Calibri Light"/>
              </a:defRPr>
            </a:pPr>
            <a:r>
              <a:rPr/>
              <a:t>Installations Industrielles Classées (ICPE)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9" y="1097280"/>
            <a:ext cx="4526280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</a:t>
            </a:r>
            <a:r>
              <a:rPr sz="1100" i="0" b="1">
                <a:solidFill>
                  <a:srgbClr val="1E3A5F"/>
                </a:solidFill>
                <a:latin typeface="Calibri"/>
              </a:rPr>
              <a:t>NON</a:t>
            </a:r>
            <a:r>
              <a:rPr sz="1100" i="0" b="0">
                <a:solidFill>
                  <a:srgbClr val="333333"/>
                </a:solidFill>
                <a:latin typeface="Calibri"/>
              </a:rPr>
              <a:t>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effets toxiques / thermiques / surpression depuis les installations Seveso. Implantation hors périmètre PPRT (plan de prévention des risques technologiques) recommandée.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2200">
                <a:solidFill>
                  <a:srgbClr val="4A5FE3"/>
                </a:solidFill>
                <a:latin typeface="Calibri Light"/>
              </a:defRPr>
            </a:pPr>
            <a:r>
              <a:rPr/>
              <a:t>Canalisations de Transport de Matières Dangereuses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effets thermiques en cas d'accident sur la canalisation. Distance de sécurité réglementaire requise si traversée du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Risque Nucléaire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252"/>
            <a:ext cx="5120640" cy="31939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1">
                <a:solidFill>
                  <a:srgbClr val="1E3A5F"/>
                </a:solidFill>
                <a:latin typeface="Calibri"/>
              </a:rPr>
              <a:t>Risque non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b="0" sz="3600">
                <a:solidFill>
                  <a:srgbClr val="4A5FE3"/>
                </a:solidFill>
                <a:latin typeface="Calibri Light"/>
              </a:defRPr>
            </a:pPr>
            <a:r>
              <a:rPr/>
              <a:t>Pollution des Sols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8754"/>
            <a:ext cx="5120640" cy="35689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solidFill>
            <a:srgbClr val="1F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 bIns="36576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rPr/>
              <a:t>Comments</a:t>
            </a:r>
          </a:p>
        </p:txBody>
      </p:sp>
      <p:sp>
        <p:nvSpPr>
          <p:cNvPr id="5" name="comments_body"/>
          <p:cNvSpPr/>
          <p:nvPr/>
        </p:nvSpPr>
        <p:spPr>
          <a:xfrm>
            <a:off x="5669280" y="1417319"/>
            <a:ext cx="3200400" cy="3017520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rIns="109728" bIns="73152" wrap="square"/>
          <a:lstStyle/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📋 Statuts officiels Géorisques (rapport2) :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À mon adresse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   Sur la commune : CONCERNÉ</a:t>
            </a:r>
          </a:p>
          <a:p>
            <a:pPr algn="just" marL="123444" indent="0">
              <a:spcAft>
                <a:spcPts val="600"/>
              </a:spcAft>
              <a:defRPr>
                <a:latin typeface="Calibri"/>
              </a:defRPr>
            </a:pPr>
            <a:r>
              <a:rPr sz="1100" i="0" b="0">
                <a:solidFill>
                  <a:srgbClr val="333333"/>
                </a:solidFill>
                <a:latin typeface="Calibri"/>
              </a:rPr>
              <a:t>Impact pour datacenter : étude historique et de sols (G1/G2) obligatoire avant construction. Dépollution éventuelle si site BASOL (inventaire des sols pollués ou potentiellement pollués) avéré.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6675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u="sng">
                <a:solidFill>
                  <a:srgbClr val="4A5FE3"/>
                </a:solidFill>
                <a:hlinkClick r:id="rId3"/>
              </a:rPr>
              <a:t>Source : Géorisques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Annexe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80060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80808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